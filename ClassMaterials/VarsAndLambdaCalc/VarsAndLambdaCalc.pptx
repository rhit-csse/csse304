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315200" cy="9601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3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3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sldNum" idx="3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6DCA824-1152-4237-8FFD-64EFF99290C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Num" idx="40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120" rIns="96120" tIns="47880" bIns="47880" anchor="b">
            <a:noAutofit/>
          </a:bodyPr>
          <a:lstStyle>
            <a:lvl1pPr indent="0" algn="r" defTabSz="960120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60120">
              <a:lnSpc>
                <a:spcPct val="100000"/>
              </a:lnSpc>
              <a:buNone/>
            </a:pPr>
            <a:fld id="{740D8476-E8D6-4A9E-8194-B4FE48F3F67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ldImg"/>
          </p:nvPr>
        </p:nvSpPr>
        <p:spPr>
          <a:xfrm>
            <a:off x="457200" y="719280"/>
            <a:ext cx="6400440" cy="360000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732600" y="4559760"/>
            <a:ext cx="585000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120" rIns="96120" tIns="47880" bIns="4788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457200" y="719280"/>
            <a:ext cx="6400440" cy="360000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732600" y="4559760"/>
            <a:ext cx="585000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120" rIns="96120" tIns="47880" bIns="47880" anchor="t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 that it uses snoc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41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120" rIns="96120" tIns="47880" bIns="47880" anchor="b">
            <a:noAutofit/>
          </a:bodyPr>
          <a:lstStyle>
            <a:lvl1pPr indent="0" algn="r" defTabSz="96012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60120">
              <a:lnSpc>
                <a:spcPct val="100000"/>
              </a:lnSpc>
              <a:buNone/>
            </a:pPr>
            <a:fld id="{64C0141B-048B-4B75-9410-9552B1A93EF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457200" y="719280"/>
            <a:ext cx="6400440" cy="360000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732600" y="4559760"/>
            <a:ext cx="585000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120" rIns="96120" tIns="47880" bIns="47880" anchor="t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 that it uses snoc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42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120" rIns="96120" tIns="47880" bIns="47880" anchor="b">
            <a:noAutofit/>
          </a:bodyPr>
          <a:lstStyle>
            <a:lvl1pPr indent="0" algn="r" defTabSz="96012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60120">
              <a:lnSpc>
                <a:spcPct val="100000"/>
              </a:lnSpc>
              <a:buNone/>
            </a:pPr>
            <a:fld id="{B3A6B254-10A0-4B0E-81D6-C24D8A05C19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457200" y="719280"/>
            <a:ext cx="6400440" cy="360000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732600" y="4559760"/>
            <a:ext cx="585000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120" rIns="96120" tIns="47880" bIns="4788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43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120" rIns="96120" tIns="47880" bIns="47880" anchor="b">
            <a:noAutofit/>
          </a:bodyPr>
          <a:lstStyle>
            <a:lvl1pPr indent="0" algn="r" defTabSz="96012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60120">
              <a:lnSpc>
                <a:spcPct val="100000"/>
              </a:lnSpc>
              <a:buNone/>
            </a:pPr>
            <a:fld id="{CD888D9B-22EB-47FA-BBA0-567C027F68F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457200" y="719280"/>
            <a:ext cx="6400440" cy="360000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732600" y="4559760"/>
            <a:ext cx="585000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120" rIns="96120" tIns="47880" bIns="4788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44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120" rIns="96120" tIns="47880" bIns="47880" anchor="b">
            <a:noAutofit/>
          </a:bodyPr>
          <a:lstStyle>
            <a:lvl1pPr indent="0" algn="r" defTabSz="96012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60120">
              <a:lnSpc>
                <a:spcPct val="100000"/>
              </a:lnSpc>
              <a:buNone/>
            </a:pPr>
            <a:fld id="{BA056544-23C1-4A0D-936C-F9FF2BBF7C5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ormatShape" hidden="1" descr="SKIING"/>
          <p:cNvSpPr/>
          <p:nvPr/>
        </p:nvSpPr>
        <p:spPr>
          <a:xfrm>
            <a:off x="-1778040" y="1701720"/>
            <a:ext cx="1574280" cy="825120"/>
          </a:xfrm>
          <a:prstGeom prst="rect">
            <a:avLst/>
          </a:prstGeom>
          <a:noFill/>
          <a:ln w="101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2438280" y="1523880"/>
            <a:ext cx="8127720" cy="187920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b">
            <a:noAutofit/>
          </a:bodyPr>
          <a:p>
            <a:pPr indent="0" algn="ctr">
              <a:lnSpc>
                <a:spcPct val="95000"/>
              </a:lnSpc>
              <a:buNone/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91440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73756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9E10C6-947B-465C-8CD3-08D875E133C0}" type="slidenum"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tShape" hidden="1" descr="SKIING"/>
          <p:cNvSpPr/>
          <p:nvPr/>
        </p:nvSpPr>
        <p:spPr>
          <a:xfrm>
            <a:off x="-1778040" y="1701720"/>
            <a:ext cx="1574280" cy="825120"/>
          </a:xfrm>
          <a:prstGeom prst="rect">
            <a:avLst/>
          </a:prstGeom>
          <a:noFill/>
          <a:ln w="101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533520"/>
            <a:ext cx="10362960" cy="10663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914400" y="2514600"/>
            <a:ext cx="10362960" cy="35809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91440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73756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57FD1D-7424-4314-9103-24833B0B7188}" type="slidenum"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tShape" hidden="1" descr="SKIING"/>
          <p:cNvSpPr/>
          <p:nvPr/>
        </p:nvSpPr>
        <p:spPr>
          <a:xfrm>
            <a:off x="-1778040" y="1701720"/>
            <a:ext cx="1574280" cy="825120"/>
          </a:xfrm>
          <a:prstGeom prst="rect">
            <a:avLst/>
          </a:prstGeom>
          <a:noFill/>
          <a:ln w="101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686800" y="533520"/>
            <a:ext cx="2590560" cy="556236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ctr" vert="eaVer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914400" y="533520"/>
            <a:ext cx="7569000" cy="556236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91440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73756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97CFD1-5C80-4BF7-A048-9BE0D3480795}" type="slidenum"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Title, Text,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atShape" hidden="1" descr="SKIING"/>
          <p:cNvSpPr/>
          <p:nvPr/>
        </p:nvSpPr>
        <p:spPr>
          <a:xfrm>
            <a:off x="-1778040" y="1701720"/>
            <a:ext cx="1574280" cy="825120"/>
          </a:xfrm>
          <a:prstGeom prst="rect">
            <a:avLst/>
          </a:prstGeom>
          <a:noFill/>
          <a:ln w="101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533520"/>
            <a:ext cx="10362960" cy="10663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914400" y="2514600"/>
            <a:ext cx="5079600" cy="35809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197760" y="2514600"/>
            <a:ext cx="5079600" cy="35809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91440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873756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D65BDB4-607A-4A3A-9930-B239F93B8288}" type="slidenum"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rmatShape" hidden="1" descr="SKIING"/>
          <p:cNvSpPr/>
          <p:nvPr/>
        </p:nvSpPr>
        <p:spPr>
          <a:xfrm>
            <a:off x="-1778040" y="1701720"/>
            <a:ext cx="1574280" cy="825120"/>
          </a:xfrm>
          <a:prstGeom prst="rect">
            <a:avLst/>
          </a:prstGeom>
          <a:noFill/>
          <a:ln w="101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914400" y="533520"/>
            <a:ext cx="10362960" cy="10663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914400" y="2514600"/>
            <a:ext cx="10362960" cy="35809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91440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873756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9A2755-D1BF-46F9-B70C-1E771C84B9EE}" type="slidenum"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rmatShape" hidden="1" descr="SKIING"/>
          <p:cNvSpPr/>
          <p:nvPr/>
        </p:nvSpPr>
        <p:spPr>
          <a:xfrm>
            <a:off x="-1778040" y="1701720"/>
            <a:ext cx="1574280" cy="825120"/>
          </a:xfrm>
          <a:prstGeom prst="rect">
            <a:avLst/>
          </a:prstGeom>
          <a:noFill/>
          <a:ln w="101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rgbClr val="eaeaea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6"/>
          </p:nvPr>
        </p:nvSpPr>
        <p:spPr>
          <a:xfrm>
            <a:off x="91440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17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18"/>
          </p:nvPr>
        </p:nvSpPr>
        <p:spPr>
          <a:xfrm>
            <a:off x="873756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991636C-7881-4DCD-9575-3B2BB0A6820E}" type="slidenum"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ormatShape" hidden="1" descr="SKIING"/>
          <p:cNvSpPr/>
          <p:nvPr/>
        </p:nvSpPr>
        <p:spPr>
          <a:xfrm>
            <a:off x="-1778040" y="1701720"/>
            <a:ext cx="1574280" cy="825120"/>
          </a:xfrm>
          <a:prstGeom prst="rect">
            <a:avLst/>
          </a:prstGeom>
          <a:noFill/>
          <a:ln w="101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14400" y="533520"/>
            <a:ext cx="10362960" cy="10663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914400" y="2514600"/>
            <a:ext cx="5079600" cy="35809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2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1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eaeaea"/>
              </a:buClr>
              <a:buFont typeface="OpenSymbol"/>
              <a:buChar char="»"/>
            </a:pPr>
            <a:r>
              <a:rPr b="0" lang="en-US" sz="1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197760" y="2514600"/>
            <a:ext cx="5079600" cy="35809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2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1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eaeaea"/>
              </a:buClr>
              <a:buFont typeface="OpenSymbol"/>
              <a:buChar char="»"/>
            </a:pPr>
            <a:r>
              <a:rPr b="0" lang="en-US" sz="1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9"/>
          </p:nvPr>
        </p:nvSpPr>
        <p:spPr>
          <a:xfrm>
            <a:off x="91440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20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21"/>
          </p:nvPr>
        </p:nvSpPr>
        <p:spPr>
          <a:xfrm>
            <a:off x="873756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F8B1464-193A-42CD-9EAB-DE8C8DB548B6}" type="slidenum"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rmatShape" hidden="1" descr="SKIING"/>
          <p:cNvSpPr/>
          <p:nvPr/>
        </p:nvSpPr>
        <p:spPr>
          <a:xfrm>
            <a:off x="-1778040" y="1701720"/>
            <a:ext cx="1574280" cy="825120"/>
          </a:xfrm>
          <a:prstGeom prst="rect">
            <a:avLst/>
          </a:prstGeom>
          <a:noFill/>
          <a:ln w="101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Second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Third level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Fourth level</a:t>
            </a:r>
            <a:endParaRPr b="0" lang="en-US" sz="16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eaeaea"/>
              </a:buClr>
              <a:buFont typeface="OpenSymbol"/>
              <a:buChar char="»"/>
            </a:pPr>
            <a:r>
              <a:rPr b="0" lang="en-US" sz="16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Fifth level</a:t>
            </a:r>
            <a:endParaRPr b="0" lang="en-US" sz="16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Second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Third level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Fourth level</a:t>
            </a:r>
            <a:endParaRPr b="0" lang="en-US" sz="16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eaeaea"/>
              </a:buClr>
              <a:buFont typeface="OpenSymbol"/>
              <a:buChar char="»"/>
            </a:pPr>
            <a:r>
              <a:rPr b="0" lang="en-US" sz="16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Fifth level</a:t>
            </a:r>
            <a:endParaRPr b="0" lang="en-US" sz="16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2"/>
          </p:nvPr>
        </p:nvSpPr>
        <p:spPr>
          <a:xfrm>
            <a:off x="91440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3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4"/>
          </p:nvPr>
        </p:nvSpPr>
        <p:spPr>
          <a:xfrm>
            <a:off x="873756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0395D0-E475-4FDD-AF86-786366467FD7}" type="slidenum"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rmatShape" hidden="1" descr="SKIING"/>
          <p:cNvSpPr/>
          <p:nvPr/>
        </p:nvSpPr>
        <p:spPr>
          <a:xfrm>
            <a:off x="-1778040" y="1701720"/>
            <a:ext cx="1574280" cy="825120"/>
          </a:xfrm>
          <a:prstGeom prst="rect">
            <a:avLst/>
          </a:prstGeom>
          <a:noFill/>
          <a:ln w="101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14400" y="533520"/>
            <a:ext cx="10362960" cy="10663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5"/>
          </p:nvPr>
        </p:nvSpPr>
        <p:spPr>
          <a:xfrm>
            <a:off x="91440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6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27"/>
          </p:nvPr>
        </p:nvSpPr>
        <p:spPr>
          <a:xfrm>
            <a:off x="873756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CBA792-A6C8-413B-9D7A-2E6A9DC8B10A}" type="slidenum"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ormatShape" hidden="1" descr="SKIING"/>
          <p:cNvSpPr/>
          <p:nvPr/>
        </p:nvSpPr>
        <p:spPr>
          <a:xfrm>
            <a:off x="-1778040" y="1701720"/>
            <a:ext cx="1574280" cy="825120"/>
          </a:xfrm>
          <a:prstGeom prst="rect">
            <a:avLst/>
          </a:prstGeom>
          <a:noFill/>
          <a:ln w="101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dt" idx="28"/>
          </p:nvPr>
        </p:nvSpPr>
        <p:spPr>
          <a:xfrm>
            <a:off x="91440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9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30"/>
          </p:nvPr>
        </p:nvSpPr>
        <p:spPr>
          <a:xfrm>
            <a:off x="873756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2924B6-82C7-4A9F-B3AF-D6F5B72C280A}" type="slidenum"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ormatShape" hidden="1" descr="SKIING"/>
          <p:cNvSpPr/>
          <p:nvPr/>
        </p:nvSpPr>
        <p:spPr>
          <a:xfrm>
            <a:off x="-1778040" y="1701720"/>
            <a:ext cx="1574280" cy="825120"/>
          </a:xfrm>
          <a:prstGeom prst="rect">
            <a:avLst/>
          </a:prstGeom>
          <a:noFill/>
          <a:ln w="101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eaeaea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eaeaea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91440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73756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B22D3F-E514-47ED-AFAB-9CA4EEAE1BBE}" type="slidenum"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rmatShape" hidden="1" descr="SKIING"/>
          <p:cNvSpPr/>
          <p:nvPr/>
        </p:nvSpPr>
        <p:spPr>
          <a:xfrm>
            <a:off x="-1778040" y="1701720"/>
            <a:ext cx="1574280" cy="825120"/>
          </a:xfrm>
          <a:prstGeom prst="rect">
            <a:avLst/>
          </a:prstGeom>
          <a:noFill/>
          <a:ln w="101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4"/>
          </p:nvPr>
        </p:nvSpPr>
        <p:spPr>
          <a:xfrm>
            <a:off x="91440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5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6"/>
          </p:nvPr>
        </p:nvSpPr>
        <p:spPr>
          <a:xfrm>
            <a:off x="8737560" y="6248520"/>
            <a:ext cx="253980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9DC29C0-7058-4EC4-8A06-C5A830A1CBDA}" type="slidenum"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helveticablanc.com/" TargetMode="External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b">
            <a:normAutofit lnSpcReduction="9999"/>
          </a:bodyPr>
          <a:p>
            <a:pPr indent="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Variable Lambda Calc Problems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2" descr=""/>
          <p:cNvPicPr/>
          <p:nvPr/>
        </p:nvPicPr>
        <p:blipFill>
          <a:blip r:embed="rId1"/>
          <a:stretch/>
        </p:blipFill>
        <p:spPr>
          <a:xfrm>
            <a:off x="5248080" y="272880"/>
            <a:ext cx="5852880" cy="585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434960"/>
            <a:ext cx="4010760" cy="374616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rm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Efficient rotate</a:t>
            </a:r>
            <a:endParaRPr b="0" lang="en-US" sz="1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Review free and bound variables </a:t>
            </a:r>
            <a:br>
              <a:rPr sz="1400"/>
            </a:br>
            <a:r>
              <a:rPr b="0" lang="en-US" sz="1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write occurs-bound?</a:t>
            </a:r>
            <a:endParaRPr b="0" lang="en-US" sz="1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244800" y="6172200"/>
            <a:ext cx="6097320" cy="8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19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Art by Helvetica Blanc (</a:t>
            </a:r>
            <a:r>
              <a:rPr b="0" lang="en-US" sz="1100" strike="noStrike" u="sng">
                <a:solidFill>
                  <a:srgbClr val="969696"/>
                </a:solidFill>
                <a:effectLst/>
                <a:uFillTx/>
                <a:latin typeface="Verdana"/>
                <a:hlinkClick r:id="rId2"/>
              </a:rPr>
              <a:t>https://helveticablanc.com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).  Licensed under a Creative Commons Attribution-NonCommercial-ShareAlike 4.0 International license.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9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057400" y="228600"/>
            <a:ext cx="7772040" cy="68544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Rotate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85800" y="990720"/>
            <a:ext cx="10820160" cy="601956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ffff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Consider this proposed solution</a:t>
            </a:r>
            <a:endParaRPr b="0" lang="en-US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(define rotate  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Courier New"/>
              </a:rPr>
              <a:t>; rotate the last list  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Courier New"/>
              </a:rPr>
              <a:t>                 ; element to the beginning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(lambda (los)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(let loop ([los los]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       [sofar '()])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(cond 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[(null? los) los]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[(null? (cdr los))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Courier New"/>
              </a:rPr>
              <a:t>;one-element list 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 (cons (car los) </a:t>
            </a:r>
            <a:r>
              <a:rPr b="1" lang="en-US" sz="2400" strike="noStrike" u="none">
                <a:solidFill>
                  <a:srgbClr val="66ccff"/>
                </a:solidFill>
                <a:effectLst/>
                <a:uFillTx/>
                <a:latin typeface="Courier New"/>
              </a:rPr>
              <a:t>sofar</a:t>
            </a: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)]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[else        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Courier New"/>
              </a:rPr>
              <a:t>; build up the "all but last" list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 (loop (cdr los)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       (</a:t>
            </a:r>
            <a:r>
              <a:rPr b="1" lang="en-US" sz="2400" strike="noStrike" u="none">
                <a:solidFill>
                  <a:srgbClr val="66ccff"/>
                </a:solidFill>
                <a:effectLst/>
                <a:uFillTx/>
                <a:latin typeface="Courier New"/>
              </a:rPr>
              <a:t>append</a:t>
            </a: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sofar 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               (</a:t>
            </a:r>
            <a:r>
              <a:rPr b="1" lang="en-US" sz="2400" strike="noStrike" u="none">
                <a:solidFill>
                  <a:srgbClr val="66ccff"/>
                </a:solidFill>
                <a:effectLst/>
                <a:uFillTx/>
                <a:latin typeface="Courier New"/>
              </a:rPr>
              <a:t>list</a:t>
            </a: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(car </a:t>
            </a:r>
            <a:br>
              <a:rPr sz="2400"/>
            </a:b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                    los))))]))))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057400" y="228600"/>
            <a:ext cx="7772040" cy="68544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Rotate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600200" y="838080"/>
            <a:ext cx="8915040" cy="601956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ffff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Consider another solution</a:t>
            </a:r>
            <a:br>
              <a:rPr sz="1400"/>
            </a:br>
            <a:r>
              <a:rPr b="0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(define rotate  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Courier New"/>
              </a:rPr>
              <a:t>; build up list in reverse  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Courier New"/>
              </a:rPr>
              <a:t>                 ; order, then reverse it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(lambda (los)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(let loop ([los los]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       [sofar '()])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(cond 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[(null? los) los]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[(null? (cdr los))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Courier New"/>
              </a:rPr>
              <a:t>;one-element list 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 (cons (car los) (</a:t>
            </a:r>
            <a:r>
              <a:rPr b="1" lang="en-US" sz="2400" strike="noStrike" u="none">
                <a:solidFill>
                  <a:srgbClr val="66ccff"/>
                </a:solidFill>
                <a:effectLst/>
                <a:uFillTx/>
                <a:latin typeface="Courier New"/>
              </a:rPr>
              <a:t>reverse</a:t>
            </a: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sofar))]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[else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Courier New"/>
              </a:rPr>
              <a:t>; build "all but last" in reverse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 (loop (cdr los)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</a:t>
            </a: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	</a:t>
            </a: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	</a:t>
            </a: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	</a:t>
            </a: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	</a:t>
            </a: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(</a:t>
            </a:r>
            <a:r>
              <a:rPr b="1" lang="en-US" sz="2400" strike="noStrike" u="none">
                <a:solidFill>
                  <a:srgbClr val="66ccff"/>
                </a:solidFill>
                <a:effectLst/>
                <a:uFillTx/>
                <a:latin typeface="Courier New"/>
              </a:rPr>
              <a:t>cons</a:t>
            </a: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(car los) </a:t>
            </a:r>
            <a:br>
              <a:rPr sz="2400"/>
            </a:b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           sofar))]))))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057400" y="0"/>
            <a:ext cx="7772040" cy="68544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Rotate – an experiment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752480" y="609480"/>
            <a:ext cx="8152920" cy="601956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(define make-long-list ; make a list of n different numbers.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(lambda (n) (if (zero? n)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          '()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              (cons n (make-long-list (sub1 n))))))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&gt; </a:t>
            </a: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Courier New"/>
              </a:rPr>
              <a:t>(define long (make-long-list 30000))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&gt; </a:t>
            </a: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Courier New"/>
              </a:rPr>
              <a:t>(begin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Courier New"/>
              </a:rPr>
              <a:t>    (collect)(time (rotate-linear long))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Courier New"/>
              </a:rPr>
              <a:t>    (collect) (time (rotate long))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Courier New"/>
              </a:rPr>
              <a:t>    'done)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(time (rotate-linear long))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no collections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0 ms elapsed cpu time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2 ms elapsed real time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480040 bytes allocated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(time (rotate long))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869 collections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3183 ms elapsed cpu time, including 127 ms collecting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3187 ms elapsed real time, including 204 ms collecting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    3732622096 bytes allocated, including 3729785280 bytes reclaimed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done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&gt; </a:t>
            </a:r>
            <a:endParaRPr b="0" lang="en-US" sz="1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4400" y="533520"/>
            <a:ext cx="10362960" cy="10663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A simpler rotate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2209680" y="1920600"/>
            <a:ext cx="822924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Courier New"/>
              </a:rPr>
              <a:t>(define rotate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Courier New"/>
              </a:rPr>
              <a:t>  (lambda (L)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Courier New"/>
              </a:rPr>
              <a:t>    (if (null? L)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Courier New"/>
              </a:rPr>
              <a:t>	</a:t>
            </a: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Courier New"/>
              </a:rPr>
              <a:t>'()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Courier New"/>
              </a:rPr>
              <a:t>	</a:t>
            </a: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Courier New"/>
              </a:rPr>
              <a:t>(let ([rev (reverse L)])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Courier New"/>
              </a:rPr>
              <a:t>	</a:t>
            </a: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Courier New"/>
              </a:rPr>
              <a:t>  (cons (car rev)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Courier New"/>
              </a:rPr>
              <a:t>	</a:t>
            </a: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Courier New"/>
              </a:rPr>
              <a:t>	</a:t>
            </a: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Courier New"/>
              </a:rPr>
              <a:t>    (reverse (cdr rev)))))))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14400" y="533520"/>
            <a:ext cx="10362960" cy="106632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Activity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714680" y="1506600"/>
            <a:ext cx="8953200" cy="4647960"/>
          </a:xfrm>
          <a:prstGeom prst="rect">
            <a:avLst/>
          </a:prstGeom>
          <a:noFill/>
          <a:ln w="9360">
            <a:noFill/>
          </a:ln>
          <a:effectLst>
            <a:outerShdw dist="53966" dir="2700000" blurRad="0" rotWithShape="0">
              <a:srgbClr val="000000"/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8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Now lets solve the in-class-example problems.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You solve the first one.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I’ll help you with the second.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eaeaea"/>
                </a:solidFill>
                <a:effectLst/>
                <a:uFillTx/>
                <a:latin typeface="Courier New"/>
              </a:rPr>
              <a:t>You solve the third one.</a:t>
            </a:r>
            <a:endParaRPr b="0" lang="en-US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Brick Wall">
  <a:themeElements>
    <a:clrScheme name="Brick Wall 3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b2b2b2"/>
      </a:accent1>
      <a:accent2>
        <a:srgbClr val="808080"/>
      </a:accent2>
      <a:accent3>
        <a:srgbClr val="ffffff"/>
      </a:accent3>
      <a:accent4>
        <a:srgbClr val="000000"/>
      </a:accent4>
      <a:accent5>
        <a:srgbClr val="d5d5d5"/>
      </a:accent5>
      <a:accent6>
        <a:srgbClr val="737373"/>
      </a:accent6>
      <a:hlink>
        <a:srgbClr val="969696"/>
      </a:hlink>
      <a:folHlink>
        <a:srgbClr val="4d4d4d"/>
      </a:folHlink>
    </a:clrScheme>
    <a:fontScheme name="Brick Wal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Brick Wall</Template>
  <TotalTime>17959</TotalTime>
  <Application>LibreOffice/25.2.3.2$Linux_X86_64 LibreOffice_project/520$Build-2</Application>
  <AppVersion>15.0000</AppVersion>
  <Words>1084</Words>
  <Paragraphs>138</Paragraphs>
  <Company>Rose-Hulman Institute of Technology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2002-09-17T12:37:32Z</dcterms:created>
  <dc:creator>Claude Anderson</dc:creator>
  <dc:description/>
  <dc:language>en-US</dc:language>
  <cp:lastModifiedBy/>
  <cp:lastPrinted>2019-12-20T19:10:58Z</cp:lastPrinted>
  <dcterms:modified xsi:type="dcterms:W3CDTF">2026-09-04T09:27:06Z</dcterms:modified>
  <cp:revision>201</cp:revision>
  <dc:subject/>
  <dc:title>CS 304 Day 8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10</vt:i4>
  </property>
  <property fmtid="{D5CDD505-2E9C-101B-9397-08002B2CF9AE}" pid="5" name="Version">
    <vt:i4>7</vt:i4>
  </property>
</Properties>
</file>