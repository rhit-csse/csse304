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7315200" cy="9601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501840" y="729360"/>
            <a:ext cx="63100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508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5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31520" y="4560120"/>
            <a:ext cx="5851800" cy="432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5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174480" cy="47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4"/>
          </p:nvPr>
        </p:nvSpPr>
        <p:spPr>
          <a:xfrm>
            <a:off x="4140360" y="0"/>
            <a:ext cx="3174480" cy="47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5"/>
          </p:nvPr>
        </p:nvSpPr>
        <p:spPr>
          <a:xfrm>
            <a:off x="0" y="9120960"/>
            <a:ext cx="3174480" cy="47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6"/>
          </p:nvPr>
        </p:nvSpPr>
        <p:spPr>
          <a:xfrm>
            <a:off x="4140360" y="9120960"/>
            <a:ext cx="3174480" cy="47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2651C4F-FAD2-408E-8F29-A49E7D86873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458640" y="720720"/>
            <a:ext cx="6399000" cy="360000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31160" y="4559760"/>
            <a:ext cx="5852160" cy="4320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rm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7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1D022C-A039-4D7A-83E6-4E9CF0F2DD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gradFill rotWithShape="0">
          <a:gsLst>
            <a:gs pos="0">
              <a:srgbClr val="ccffff"/>
            </a:gs>
            <a:gs pos="100000">
              <a:srgbClr val="99ccff"/>
            </a:gs>
          </a:gsLst>
          <a:path path="rect">
            <a:fillToRect l="0" t="0" r="10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5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712"/>
              </a:spcBef>
              <a:buNone/>
            </a:pPr>
            <a:endParaRPr b="0" lang="en-US" sz="3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3D1AF7-9597-4BC5-8E1D-DA2E0C60CA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5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712"/>
              </a:spcBef>
              <a:buNone/>
            </a:pPr>
            <a:endParaRPr b="0" lang="en-US" sz="3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3C22C2-E338-4088-9E11-B368299518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5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CE8016-B37E-4170-9DEA-BFF9714B19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508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9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10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6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"/>
          </p:nvPr>
        </p:nvSpPr>
        <p:spPr>
          <a:xfrm>
            <a:off x="609480" y="6247440"/>
            <a:ext cx="284040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2"/>
          </p:nvPr>
        </p:nvSpPr>
        <p:spPr>
          <a:xfrm>
            <a:off x="4169520" y="6247440"/>
            <a:ext cx="386460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3"/>
          </p:nvPr>
        </p:nvSpPr>
        <p:spPr>
          <a:xfrm>
            <a:off x="8741520" y="6247440"/>
            <a:ext cx="284040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9DAC7B-AD1A-4907-B578-78B3C145287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docs.racket-lang.org/guide/boxes.html" TargetMode="External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086600" y="380880"/>
            <a:ext cx="4800600" cy="167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Letrec, More CPS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37080"/>
            <a:ext cx="6857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6903720" y="5715000"/>
            <a:ext cx="52884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work is licensed under a Creative Commons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Attribution-NonCommercial-ShareAlike 4.0 International license.helveticablanc.com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508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Lets draw an E&amp;C Diagram</a:t>
            </a:r>
            <a:endParaRPr b="0" lang="en-US" sz="5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914400" y="2514600"/>
            <a:ext cx="1028700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(letrec ((factorial (lambda (n)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                      (if (= n 1)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                          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                          (* n (factorial (sub1 n)))))))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  (factorial 2))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A brief guide to implementing letrec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Claude’s video goes through 3 solutions with detailed code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I’ll walk you through the basic mutation solution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Simple idea: create a (broken) environment, use that environment to create the closures in the letrec, then modify the environment to make the values point to the closures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Modifying the environment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You’ll need to make the environment something mutable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Vector is a likely option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You can add an operation to environments that allows modification OR you can construct the environment with a vector and then edit the vector later in the procedure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You can also make the environment values boxed values (see </a:t>
            </a:r>
            <a:r>
              <a:rPr b="0" lang="en-US" sz="3200" strike="noStrike" u="sng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https://docs.racket-lang.org/guide/boxes.html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).  That’ll also make implementing set! easier.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Please convert slist-subst in sublists-cps.rkt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You have test cases to help you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 your guide from the last class – ask me for help if you need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 will go over it when you’re done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981080" y="-1522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CPS tips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762120"/>
            <a:ext cx="1059156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 goal is to make all substantial procedure calls tail calls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 “substantial” procedure for the exercises is one that we’ve asked you to convert to CPS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Look for and remove non-tail substantial procedure calls everywhere – in the original procedure, in apply-k, in helper procedures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You should never create an (init-k) continuation yourself, except in test cases and manual testing.  Wanting to do this is an indication you’re trying to call a cps procedure in a non-tail position.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10446</TotalTime>
  <Application>LibreOffice/25.2.3.2$Linux_X86_64 LibreOffice_project/520$Build-2</Application>
  <AppVersion>15.0000</AppVersion>
  <Words>273</Words>
  <Paragraphs>23</Paragraphs>
  <Company>Rose-Hulman Institute of Technology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2003-10-20T17:10:23Z</dcterms:created>
  <dc:creator>Claude Anderson</dc:creator>
  <dc:description/>
  <dc:language>en-US</dc:language>
  <cp:lastModifiedBy/>
  <cp:lastPrinted>2020-01-27T14:45:44Z</cp:lastPrinted>
  <dcterms:modified xsi:type="dcterms:W3CDTF">2026-10-20T09:42:50Z</dcterms:modified>
  <cp:revision>173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5</vt:i4>
  </property>
</Properties>
</file>