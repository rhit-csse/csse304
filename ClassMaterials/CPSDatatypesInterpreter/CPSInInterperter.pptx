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384" r:id="rId2"/>
    <p:sldId id="381" r:id="rId3"/>
    <p:sldId id="331" r:id="rId4"/>
    <p:sldId id="337" r:id="rId5"/>
    <p:sldId id="334" r:id="rId6"/>
    <p:sldId id="335" r:id="rId7"/>
    <p:sldId id="338" r:id="rId8"/>
    <p:sldId id="339" r:id="rId9"/>
    <p:sldId id="385" r:id="rId10"/>
    <p:sldId id="386" r:id="rId11"/>
    <p:sldId id="387" r:id="rId12"/>
    <p:sldId id="388" r:id="rId13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EE5F"/>
    <a:srgbClr val="FF0000"/>
    <a:srgbClr val="E4E4E4"/>
    <a:srgbClr val="66FF66"/>
    <a:srgbClr val="00001A"/>
    <a:srgbClr val="111111"/>
    <a:srgbClr val="292929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1986" autoAdjust="0"/>
    <p:restoredTop sz="79804" autoAdjust="0"/>
  </p:normalViewPr>
  <p:slideViewPr>
    <p:cSldViewPr>
      <p:cViewPr varScale="1">
        <p:scale>
          <a:sx n="85" d="100"/>
          <a:sy n="85" d="100"/>
        </p:scale>
        <p:origin x="252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6" d="100"/>
        <a:sy n="146" d="100"/>
      </p:scale>
      <p:origin x="0" y="-476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00" tIns="48250" rIns="96500" bIns="48250" numCol="1" anchor="t" anchorCtr="0" compatLnSpc="1">
            <a:prstTxWarp prst="textNoShape">
              <a:avLst/>
            </a:prstTxWarp>
          </a:bodyPr>
          <a:lstStyle>
            <a:lvl1pPr defTabSz="965044">
              <a:defRPr sz="1300"/>
            </a:lvl1pPr>
          </a:lstStyle>
          <a:p>
            <a:endParaRPr lang="en-US"/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071" y="2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00" tIns="48250" rIns="96500" bIns="48250" numCol="1" anchor="t" anchorCtr="0" compatLnSpc="1">
            <a:prstTxWarp prst="textNoShape">
              <a:avLst/>
            </a:prstTxWarp>
          </a:bodyPr>
          <a:lstStyle>
            <a:lvl1pPr algn="r" defTabSz="965044">
              <a:defRPr sz="1300"/>
            </a:lvl1pPr>
          </a:lstStyle>
          <a:p>
            <a:endParaRPr lang="en-US"/>
          </a:p>
        </p:txBody>
      </p:sp>
      <p:sp>
        <p:nvSpPr>
          <p:cNvPr id="706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2" y="9119435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00" tIns="48250" rIns="96500" bIns="48250" numCol="1" anchor="b" anchorCtr="0" compatLnSpc="1">
            <a:prstTxWarp prst="textNoShape">
              <a:avLst/>
            </a:prstTxWarp>
          </a:bodyPr>
          <a:lstStyle>
            <a:lvl1pPr defTabSz="965044">
              <a:defRPr sz="1300"/>
            </a:lvl1pPr>
          </a:lstStyle>
          <a:p>
            <a:endParaRPr lang="en-US"/>
          </a:p>
        </p:txBody>
      </p:sp>
      <p:sp>
        <p:nvSpPr>
          <p:cNvPr id="706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071" y="9119435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500" tIns="48250" rIns="96500" bIns="48250" numCol="1" anchor="b" anchorCtr="0" compatLnSpc="1">
            <a:prstTxWarp prst="textNoShape">
              <a:avLst/>
            </a:prstTxWarp>
          </a:bodyPr>
          <a:lstStyle>
            <a:lvl1pPr algn="r" defTabSz="965044">
              <a:defRPr sz="1300"/>
            </a:lvl1pPr>
          </a:lstStyle>
          <a:p>
            <a:fld id="{B82A3F59-4C40-48E6-982D-D20FE3AE2030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7242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2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563" tIns="48782" rIns="97563" bIns="48782" numCol="1" anchor="t" anchorCtr="0" compatLnSpc="1">
            <a:prstTxWarp prst="textNoShape">
              <a:avLst/>
            </a:prstTxWarp>
          </a:bodyPr>
          <a:lstStyle>
            <a:lvl1pPr defTabSz="974842">
              <a:defRPr sz="1300"/>
            </a:lvl1pPr>
          </a:lstStyle>
          <a:p>
            <a:endParaRPr lang="en-US"/>
          </a:p>
        </p:txBody>
      </p:sp>
      <p:sp>
        <p:nvSpPr>
          <p:cNvPr id="614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071" y="2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563" tIns="48782" rIns="97563" bIns="48782" numCol="1" anchor="t" anchorCtr="0" compatLnSpc="1">
            <a:prstTxWarp prst="textNoShape">
              <a:avLst/>
            </a:prstTxWarp>
          </a:bodyPr>
          <a:lstStyle>
            <a:lvl1pPr algn="r" defTabSz="974842">
              <a:defRPr sz="1300"/>
            </a:lvl1pPr>
          </a:lstStyle>
          <a:p>
            <a:endParaRPr lang="en-US"/>
          </a:p>
        </p:txBody>
      </p:sp>
      <p:sp>
        <p:nvSpPr>
          <p:cNvPr id="6144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5713" y="720725"/>
            <a:ext cx="4805362" cy="36036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614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2505" y="4559721"/>
            <a:ext cx="5850194" cy="4320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563" tIns="48782" rIns="97563" bIns="4878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14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119435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563" tIns="48782" rIns="97563" bIns="48782" numCol="1" anchor="b" anchorCtr="0" compatLnSpc="1">
            <a:prstTxWarp prst="textNoShape">
              <a:avLst/>
            </a:prstTxWarp>
          </a:bodyPr>
          <a:lstStyle>
            <a:lvl1pPr defTabSz="974842">
              <a:defRPr sz="1300"/>
            </a:lvl1pPr>
          </a:lstStyle>
          <a:p>
            <a:endParaRPr lang="en-US"/>
          </a:p>
        </p:txBody>
      </p:sp>
      <p:sp>
        <p:nvSpPr>
          <p:cNvPr id="614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071" y="9119435"/>
            <a:ext cx="3170903" cy="479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563" tIns="48782" rIns="97563" bIns="48782" numCol="1" anchor="b" anchorCtr="0" compatLnSpc="1">
            <a:prstTxWarp prst="textNoShape">
              <a:avLst/>
            </a:prstTxWarp>
          </a:bodyPr>
          <a:lstStyle>
            <a:lvl1pPr algn="r" defTabSz="974842">
              <a:defRPr sz="1300"/>
            </a:lvl1pPr>
          </a:lstStyle>
          <a:p>
            <a:fld id="{51B6C25D-32DF-4D0B-A234-5B2E76B992BC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624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895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2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466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03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647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814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88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B6C25D-32DF-4D0B-A234-5B2E76B992B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99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72DD2-1C07-07BD-6A23-4994F045A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020F4F-7BD1-6743-BBEB-59AFF91B13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D5ED0-1DDF-FECA-C07B-C4FFE9CEE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8A02C-64A6-8B82-4E56-B75FFD0B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B0394B-7E82-28D5-F69D-D649E2DD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50635-9AF7-4B12-80AD-B315EFD7E25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932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D3669-9953-BA08-9E33-BC6771FEF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E6DB4-A885-EA12-6E44-52C8D9D74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6E98F4-ECE4-29A0-E827-E70633299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20627-C160-6D19-EC58-378DD2BEE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FDB0F-F754-D930-8BE1-4B301E212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EC5CC-665B-4A78-AAE1-650D20797E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833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6F325-1D72-8B86-8CCF-514A55203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E4990-B144-2A0F-20A3-876EF9ABE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C2FA-004F-38AB-ED3D-075B6547B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A9A78-D5BD-7975-E3C0-B5A8F9D46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E7227A-E47A-417A-4971-9804EC7CA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29E99E-AE4C-4F82-AE13-BE4B816298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1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8E65F-9654-EDF2-1059-572D920CA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7B6E7-0966-3954-8977-33747D81C6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06DBA-B38F-3783-9BBF-397B30D24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FD6C8-273D-0515-1643-95D256EB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F8DC0D-6B76-F56A-544B-C5F397545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4010D1-AEAE-66C1-F2A6-A64ABD806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4E9C9-CCAF-412F-ABB5-88DBAF5D461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077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93753-DF9B-5F13-272F-44BFDB9FD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8EEF7-495C-FD57-F071-D1D70E975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9A5DB3-6F6F-07AC-2745-380356908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D2DBE0-33A1-B3BD-8382-5C45043A8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696C98-2632-37CD-21D5-C8FC9D8508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C7BC73-F180-034F-20A9-2BA47F1E6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211281-9F40-8012-AEC3-657D7072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A8EA01-141B-0DB3-E633-8B3266E54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6B08D-D3D3-4049-BA40-3E3C9EEF7AC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834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E2893-2500-A22B-2F0A-78B7B0A81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5756C-D168-B45E-A660-AD20F0AFD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E509B-B9FB-E0A5-10ED-D24C3C050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501ECC-1CCD-C5C9-230B-BF3A9E10A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CDBEE-5A14-4296-ABF1-9FCD2AF8E07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209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1120ED-7051-CAAA-FE98-DDD74DA67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9A88D4-2807-BC1B-2626-3EEDFDC6C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025C3-3E49-3F81-A5DF-D95C20F6C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69B4F4-2FF0-43E1-881A-0B8D555ED29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927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0B994-C092-A66A-4AED-499B39C8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075AB-0536-359B-386D-FD4026ECB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40A895-13FB-B805-78E6-2B890C809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D899B-FE66-E1D3-EA87-1EBC37E8D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3BE7A0-FE25-2930-6D80-406F5E298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A3FAAD-1981-E022-CF52-C72BB05DB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1C95B7-53FC-4EC8-9A3F-C87D4EB42C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159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3C1A6-541E-BA51-BB97-F34F68A95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00BE4B-2B41-514D-9754-921FB96F9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4846B1-6067-CE7E-1778-EA5EAC7A0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F025A4-8C1B-5D35-3708-632267621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DEB14-B065-7E62-6CB6-C7E8ACAD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15767-C822-EEAA-02E1-E8023DF3E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0E9F2-3F11-428E-A4DD-E05A7C2E0CB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53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7FD6-A5A3-3A22-C743-59243134B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32AB65-62D4-D7EC-E5BD-B7F2337FCC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FBA27-BFDE-2E1F-CB5D-0266E9FEE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5B3D7-19F4-8218-9DC4-B6DE1C6C6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BE3C1-5FFE-5B53-D1A7-5C25FF93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220800-40E4-4362-A8B5-E43239E543F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3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FF9F96-F8DF-29BC-7CFC-71FE63947B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AECACC-11A0-8A77-1DC2-77BE79979F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6166-A54F-6E26-9684-B2451B8C8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0175-1B6A-5986-E343-C0BAE5587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0050D-6FFC-D409-FCF9-E1781ACEB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EE3-B0D1-4210-BE56-81079799E23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804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06FAB3-8E0A-8E34-3413-EE5D0D0D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8E737-F58B-8880-77F8-D35AB6873C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9A81F-E695-9A07-57C3-6459D161D9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CBDA5-76B3-3883-9824-57DD18878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E4F15-FB51-A966-71DA-ED9E1825BB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CDA980-8C42-45CE-8EF6-AA35A98E0E6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656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30" y="2767106"/>
            <a:ext cx="2160621" cy="3071906"/>
          </a:xfrm>
        </p:spPr>
        <p:txBody>
          <a:bodyPr anchor="t">
            <a:normAutofit/>
          </a:bodyPr>
          <a:lstStyle/>
          <a:p>
            <a:pPr algn="l"/>
            <a:r>
              <a:rPr lang="en-US" sz="3500">
                <a:solidFill>
                  <a:srgbClr val="FFFFFF"/>
                </a:solidFill>
              </a:rPr>
              <a:t>Interpreter in CPS</a:t>
            </a:r>
            <a:br>
              <a:rPr lang="en-US" sz="3500">
                <a:solidFill>
                  <a:srgbClr val="FFFFFF"/>
                </a:solidFill>
              </a:rPr>
            </a:br>
            <a:endParaRPr lang="en-US" sz="3500">
              <a:solidFill>
                <a:srgbClr val="FFFFFF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5031" y="806824"/>
            <a:ext cx="2189804" cy="1494117"/>
          </a:xfrm>
        </p:spPr>
        <p:txBody>
          <a:bodyPr anchor="b">
            <a:normAutofit/>
          </a:bodyPr>
          <a:lstStyle/>
          <a:p>
            <a:pPr algn="l"/>
            <a:r>
              <a:rPr lang="en-US" sz="1700">
                <a:solidFill>
                  <a:srgbClr val="FFFFFF"/>
                </a:solidFill>
              </a:rPr>
              <a:t>with data-structure continuations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6B7F9E-D7BF-B86E-0B93-2E52FA96C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821" y="719344"/>
            <a:ext cx="5419311" cy="541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801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3429000" y="0"/>
            <a:ext cx="5562600" cy="1828800"/>
          </a:xfrm>
        </p:spPr>
        <p:txBody>
          <a:bodyPr/>
          <a:lstStyle/>
          <a:p>
            <a:r>
              <a:rPr lang="en-US"/>
              <a:t>Convert our Interpreter to CPS</a:t>
            </a:r>
          </a:p>
        </p:txBody>
      </p:sp>
      <p:sp>
        <p:nvSpPr>
          <p:cNvPr id="53251" name="Rectangle 3"/>
          <p:cNvSpPr>
            <a:spLocks noGrp="1" noChangeArrowheads="1"/>
          </p:cNvSpPr>
          <p:nvPr>
            <p:ph idx="1"/>
          </p:nvPr>
        </p:nvSpPr>
        <p:spPr>
          <a:xfrm>
            <a:off x="76200" y="2667000"/>
            <a:ext cx="9144000" cy="4876800"/>
          </a:xfrm>
        </p:spPr>
        <p:txBody>
          <a:bodyPr/>
          <a:lstStyle/>
          <a:p>
            <a:pPr lvl="1"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The interpreter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eval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-exp</a:t>
            </a:r>
            <a:r>
              <a:rPr lang="en-US" dirty="0">
                <a:latin typeface="Times New Roman" pitchFamily="18" charset="0"/>
              </a:rPr>
              <a:t>) will now take three arguments:</a:t>
            </a:r>
          </a:p>
          <a:p>
            <a:pPr lvl="2"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current expression to evaluate</a:t>
            </a:r>
          </a:p>
          <a:p>
            <a:pPr lvl="2"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current local environment</a:t>
            </a:r>
          </a:p>
          <a:p>
            <a:pPr lvl="2"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current continuation</a:t>
            </a:r>
            <a:br>
              <a:rPr lang="en-US" dirty="0">
                <a:latin typeface="Times New Roman" pitchFamily="18" charset="0"/>
              </a:rPr>
            </a:br>
            <a:endParaRPr lang="en-US" dirty="0">
              <a:latin typeface="Times New Roman" pitchFamily="18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Continuation abstract data type</a:t>
            </a:r>
          </a:p>
          <a:p>
            <a:pPr lvl="1">
              <a:lnSpc>
                <a:spcPct val="90000"/>
              </a:lnSpc>
              <a:spcBef>
                <a:spcPct val="0"/>
              </a:spcBef>
            </a:pPr>
            <a:r>
              <a:rPr lang="en-US" dirty="0">
                <a:latin typeface="Times New Roman" pitchFamily="18" charset="0"/>
              </a:rPr>
              <a:t>A constructor for each type of continuation that the interpreter uses.</a:t>
            </a:r>
          </a:p>
          <a:p>
            <a:pPr lvl="1">
              <a:lnSpc>
                <a:spcPct val="90000"/>
              </a:lnSpc>
              <a:spcBef>
                <a:spcPct val="0"/>
              </a:spcBef>
            </a:pPr>
            <a:r>
              <a:rPr lang="en-US" b="1" dirty="0">
                <a:latin typeface="Courier New" pitchFamily="49" charset="0"/>
                <a:ea typeface="+mn-ea"/>
                <a:cs typeface="Courier New" pitchFamily="49" charset="0"/>
              </a:rPr>
              <a:t>(apply-k k v), </a:t>
            </a:r>
            <a:r>
              <a:rPr lang="en-US" dirty="0">
                <a:latin typeface="Times New Roman" pitchFamily="18" charset="0"/>
              </a:rPr>
              <a:t>a procedure that applies the continuation </a:t>
            </a:r>
            <a:r>
              <a:rPr lang="en-US" sz="3200" b="1" dirty="0">
                <a:ea typeface="+mn-ea"/>
                <a:cs typeface="+mn-cs"/>
              </a:rPr>
              <a:t>k</a:t>
            </a:r>
            <a:r>
              <a:rPr lang="en-US" dirty="0">
                <a:latin typeface="Times New Roman" pitchFamily="18" charset="0"/>
              </a:rPr>
              <a:t> to the value </a:t>
            </a:r>
            <a:r>
              <a:rPr lang="en-US" sz="3200" b="1" dirty="0">
                <a:ea typeface="+mn-ea"/>
                <a:cs typeface="+mn-cs"/>
              </a:rPr>
              <a:t>v</a:t>
            </a:r>
            <a:r>
              <a:rPr lang="en-US" sz="900" dirty="0">
                <a:latin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</a:rPr>
              <a:t>.</a:t>
            </a: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endParaRPr lang="en-US" dirty="0">
              <a:latin typeface="Times New Roman" pitchFamily="18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36765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2"/>
          <p:cNvSpPr>
            <a:spLocks noGrp="1" noChangeArrowheads="1"/>
          </p:cNvSpPr>
          <p:nvPr>
            <p:ph type="title"/>
          </p:nvPr>
        </p:nvSpPr>
        <p:spPr>
          <a:xfrm>
            <a:off x="3429000" y="0"/>
            <a:ext cx="5715000" cy="1600200"/>
          </a:xfrm>
        </p:spPr>
        <p:txBody>
          <a:bodyPr/>
          <a:lstStyle/>
          <a:p>
            <a:r>
              <a:rPr lang="en-US"/>
              <a:t>Convert our Interpreter to CPS</a:t>
            </a:r>
          </a:p>
        </p:txBody>
      </p:sp>
      <p:sp>
        <p:nvSpPr>
          <p:cNvPr id="89091" name="Rectangle 3"/>
          <p:cNvSpPr>
            <a:spLocks noGrp="1" noChangeArrowheads="1"/>
          </p:cNvSpPr>
          <p:nvPr>
            <p:ph idx="1"/>
          </p:nvPr>
        </p:nvSpPr>
        <p:spPr>
          <a:xfrm>
            <a:off x="76200" y="1600200"/>
            <a:ext cx="9144000" cy="49530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(define </a:t>
            </a:r>
            <a:r>
              <a:rPr lang="en-US" sz="2200" b="1" dirty="0" err="1">
                <a:latin typeface="Courier New" pitchFamily="49" charset="0"/>
              </a:rPr>
              <a:t>eval</a:t>
            </a:r>
            <a:r>
              <a:rPr lang="en-US" sz="2200" b="1" dirty="0">
                <a:latin typeface="Courier New" pitchFamily="49" charset="0"/>
              </a:rPr>
              <a:t>-exp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(lambda (exp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(cases expression exp </a:t>
            </a:r>
            <a:r>
              <a:rPr lang="en-US" sz="2200" b="1" dirty="0">
                <a:solidFill>
                  <a:srgbClr val="FF0000"/>
                </a:solidFill>
                <a:latin typeface="Courier New" pitchFamily="49" charset="0"/>
              </a:rPr>
              <a:t>; look at typical cases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solidFill>
                  <a:srgbClr val="FF0000"/>
                </a:solidFill>
                <a:latin typeface="Courier New" pitchFamily="49" charset="0"/>
              </a:rPr>
              <a:t>      </a:t>
            </a:r>
            <a:r>
              <a:rPr lang="en-US" sz="2200" b="1" dirty="0">
                <a:latin typeface="Courier New" pitchFamily="49" charset="0"/>
              </a:rPr>
              <a:t>[lit-exp (datum) datum]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[</a:t>
            </a:r>
            <a:r>
              <a:rPr lang="en-US" sz="2200" b="1" dirty="0" err="1">
                <a:latin typeface="Courier New" pitchFamily="49" charset="0"/>
              </a:rPr>
              <a:t>var</a:t>
            </a:r>
            <a:r>
              <a:rPr lang="en-US" sz="2200" b="1" dirty="0">
                <a:latin typeface="Courier New" pitchFamily="49" charset="0"/>
              </a:rPr>
              <a:t>-exp (id) (apply-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 id)]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[lambda-exp (formals body)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(closure formals body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[app-exp (</a:t>
            </a:r>
            <a:r>
              <a:rPr lang="en-US" sz="2200" b="1" dirty="0" err="1">
                <a:latin typeface="Courier New" pitchFamily="49" charset="0"/>
              </a:rPr>
              <a:t>rator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rands</a:t>
            </a:r>
            <a:r>
              <a:rPr lang="en-US" sz="2200" b="1" dirty="0">
                <a:latin typeface="Courier New" pitchFamily="49" charset="0"/>
              </a:rPr>
              <a:t>)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(let ([proc-value (</a:t>
            </a:r>
            <a:r>
              <a:rPr lang="en-US" sz="2200" b="1" dirty="0" err="1">
                <a:latin typeface="Courier New" pitchFamily="49" charset="0"/>
              </a:rPr>
              <a:t>eval</a:t>
            </a:r>
            <a:r>
              <a:rPr lang="en-US" sz="2200" b="1" dirty="0">
                <a:latin typeface="Courier New" pitchFamily="49" charset="0"/>
              </a:rPr>
              <a:t>-exp </a:t>
            </a:r>
            <a:r>
              <a:rPr lang="en-US" sz="2200" b="1" dirty="0" err="1">
                <a:latin typeface="Courier New" pitchFamily="49" charset="0"/>
              </a:rPr>
              <a:t>rator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      [</a:t>
            </a:r>
            <a:r>
              <a:rPr lang="en-US" sz="2200" b="1" dirty="0" err="1">
                <a:latin typeface="Courier New" pitchFamily="49" charset="0"/>
              </a:rPr>
              <a:t>args</a:t>
            </a:r>
            <a:r>
              <a:rPr lang="en-US" sz="2200" b="1" dirty="0">
                <a:latin typeface="Courier New" pitchFamily="49" charset="0"/>
              </a:rPr>
              <a:t> (</a:t>
            </a:r>
            <a:r>
              <a:rPr lang="en-US" sz="2200" b="1" dirty="0" err="1">
                <a:latin typeface="Courier New" pitchFamily="49" charset="0"/>
              </a:rPr>
              <a:t>eval-rands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rands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)])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  (apply-proc proc-value </a:t>
            </a:r>
            <a:r>
              <a:rPr lang="en-US" sz="2200" b="1" dirty="0" err="1">
                <a:latin typeface="Courier New" pitchFamily="49" charset="0"/>
              </a:rPr>
              <a:t>args</a:t>
            </a:r>
            <a:r>
              <a:rPr lang="en-US" sz="2200" b="1" dirty="0">
                <a:latin typeface="Courier New" pitchFamily="49" charset="0"/>
              </a:rPr>
              <a:t>))]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[let-exp (</a:t>
            </a:r>
            <a:r>
              <a:rPr lang="en-US" sz="2200" b="1" dirty="0" err="1">
                <a:latin typeface="Courier New" pitchFamily="49" charset="0"/>
              </a:rPr>
              <a:t>vars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exps</a:t>
            </a:r>
            <a:r>
              <a:rPr lang="en-US" sz="2200" b="1" dirty="0">
                <a:latin typeface="Courier New" pitchFamily="49" charset="0"/>
              </a:rPr>
              <a:t> bodies)</a:t>
            </a:r>
            <a:endParaRPr lang="en-US" sz="22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(eval-bodies body</a:t>
            </a:r>
            <a:endParaRPr lang="en-US" sz="22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   (extend-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vars</a:t>
            </a:r>
            <a:r>
              <a:rPr lang="en-US" sz="2200" b="1" dirty="0">
                <a:latin typeface="Courier New" pitchFamily="49" charset="0"/>
              </a:rPr>
              <a:t> 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              (</a:t>
            </a:r>
            <a:r>
              <a:rPr lang="en-US" sz="2200" b="1" dirty="0" err="1">
                <a:latin typeface="Courier New" pitchFamily="49" charset="0"/>
              </a:rPr>
              <a:t>eval-rands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exps</a:t>
            </a:r>
            <a:r>
              <a:rPr lang="en-US" sz="2200" b="1" dirty="0">
                <a:latin typeface="Courier New" pitchFamily="49" charset="0"/>
              </a:rPr>
              <a:t>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 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                 </a:t>
            </a:r>
            <a:r>
              <a:rPr lang="en-US" sz="2200" b="1" dirty="0" err="1">
                <a:latin typeface="Courier New" pitchFamily="49" charset="0"/>
              </a:rPr>
              <a:t>env</a:t>
            </a:r>
            <a:r>
              <a:rPr lang="en-US" sz="2200" b="1" dirty="0">
                <a:latin typeface="Courier New" pitchFamily="49" charset="0"/>
              </a:rPr>
              <a:t>))]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</a:t>
            </a:r>
            <a:r>
              <a:rPr lang="en-US" sz="2200" b="1" dirty="0">
                <a:solidFill>
                  <a:srgbClr val="FF0000"/>
                </a:solidFill>
                <a:latin typeface="Courier New" pitchFamily="49" charset="0"/>
              </a:rPr>
              <a:t>; there are more cases not shown here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200" b="1" dirty="0">
                <a:latin typeface="Courier New" pitchFamily="49" charset="0"/>
              </a:rPr>
              <a:t>     )))</a:t>
            </a:r>
          </a:p>
          <a:p>
            <a:pPr>
              <a:lnSpc>
                <a:spcPct val="80000"/>
              </a:lnSpc>
              <a:spcBef>
                <a:spcPct val="0"/>
              </a:spcBef>
              <a:buFontTx/>
              <a:buNone/>
            </a:pPr>
            <a:r>
              <a:rPr lang="en-US" sz="2400" b="1" dirty="0">
                <a:latin typeface="Courier New" pitchFamily="49" charset="0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changes to </a:t>
            </a:r>
            <a:r>
              <a:rPr lang="en-US" dirty="0" err="1"/>
              <a:t>eval</a:t>
            </a:r>
            <a:r>
              <a:rPr lang="en-US" dirty="0"/>
              <a:t>-exp</a:t>
            </a:r>
          </a:p>
        </p:txBody>
      </p:sp>
      <p:sp>
        <p:nvSpPr>
          <p:cNvPr id="106499" name="Rectangle 3"/>
          <p:cNvSpPr>
            <a:spLocks noGrp="1" noChangeArrowheads="1"/>
          </p:cNvSpPr>
          <p:nvPr>
            <p:ph idx="1"/>
          </p:nvPr>
        </p:nvSpPr>
        <p:spPr>
          <a:xfrm>
            <a:off x="0" y="2286000"/>
            <a:ext cx="9525000" cy="5181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(define </a:t>
            </a:r>
            <a:r>
              <a:rPr lang="en-US" sz="2100" b="1" dirty="0" err="1">
                <a:latin typeface="Courier New" pitchFamily="49" charset="0"/>
              </a:rPr>
              <a:t>eval</a:t>
            </a:r>
            <a:r>
              <a:rPr lang="en-US" sz="2100" b="1" dirty="0">
                <a:latin typeface="Courier New" pitchFamily="49" charset="0"/>
              </a:rPr>
              <a:t>-exp </a:t>
            </a:r>
            <a:r>
              <a:rPr lang="en-US" sz="2100" b="1" dirty="0">
                <a:solidFill>
                  <a:srgbClr val="FF0000"/>
                </a:solidFill>
                <a:latin typeface="Courier New" pitchFamily="49" charset="0"/>
              </a:rPr>
              <a:t>;cps-version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(lambda (exp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</a:t>
            </a:r>
            <a:r>
              <a:rPr lang="en-US" sz="2100" b="1" dirty="0">
                <a:solidFill>
                  <a:srgbClr val="00B0F0"/>
                </a:solidFill>
                <a:latin typeface="Courier New" pitchFamily="49" charset="0"/>
              </a:rPr>
              <a:t>k</a:t>
            </a:r>
            <a:r>
              <a:rPr lang="en-US" sz="2100" b="1" dirty="0">
                <a:latin typeface="Courier New" pitchFamily="49" charset="0"/>
              </a:rPr>
              <a:t>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(cases expression exp </a:t>
            </a:r>
            <a:r>
              <a:rPr lang="en-US" sz="2100" b="1" dirty="0">
                <a:solidFill>
                  <a:srgbClr val="FF0000"/>
                </a:solidFill>
                <a:latin typeface="Courier New" pitchFamily="49" charset="0"/>
              </a:rPr>
              <a:t>; look at typical cases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[lit-exp (datum) (</a:t>
            </a:r>
            <a:r>
              <a:rPr lang="en-US" sz="2100" b="1" dirty="0">
                <a:solidFill>
                  <a:srgbClr val="00B0F0"/>
                </a:solidFill>
                <a:latin typeface="Courier New" pitchFamily="49" charset="0"/>
              </a:rPr>
              <a:t>apply-k k</a:t>
            </a:r>
            <a:r>
              <a:rPr lang="en-US" sz="2100" b="1" dirty="0">
                <a:latin typeface="Courier New" pitchFamily="49" charset="0"/>
              </a:rPr>
              <a:t> datum)]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</a:t>
            </a:r>
            <a:r>
              <a:rPr lang="en-US" sz="2100" b="1" dirty="0" err="1">
                <a:latin typeface="Courier New" pitchFamily="49" charset="0"/>
              </a:rPr>
              <a:t>var</a:t>
            </a:r>
            <a:r>
              <a:rPr lang="en-US" sz="2100" b="1" dirty="0">
                <a:latin typeface="Courier New" pitchFamily="49" charset="0"/>
              </a:rPr>
              <a:t>-exp (id) (apply-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id </a:t>
            </a:r>
            <a:r>
              <a:rPr lang="en-US" sz="2100" b="1" dirty="0">
                <a:solidFill>
                  <a:srgbClr val="00B0F0"/>
                </a:solidFill>
                <a:latin typeface="Courier New" pitchFamily="49" charset="0"/>
              </a:rPr>
              <a:t>k</a:t>
            </a:r>
            <a:r>
              <a:rPr lang="en-US" sz="2100" b="1" dirty="0">
                <a:latin typeface="Courier New" pitchFamily="49" charset="0"/>
              </a:rPr>
              <a:t> fail-proc))]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[lambda-exp (formals bodies)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(</a:t>
            </a:r>
            <a:r>
              <a:rPr lang="en-US" sz="2100" b="1" dirty="0">
                <a:solidFill>
                  <a:srgbClr val="00B0F0"/>
                </a:solidFill>
                <a:latin typeface="Courier New" pitchFamily="49" charset="0"/>
              </a:rPr>
              <a:t>apply-k k</a:t>
            </a:r>
            <a:r>
              <a:rPr lang="en-US" sz="2100" b="1" dirty="0">
                <a:latin typeface="Courier New" pitchFamily="49" charset="0"/>
              </a:rPr>
              <a:t> (closure formals bodies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))]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[app-exp (</a:t>
            </a:r>
            <a:r>
              <a:rPr lang="en-US" sz="2100" b="1" dirty="0" err="1">
                <a:latin typeface="Courier New" pitchFamily="49" charset="0"/>
              </a:rPr>
              <a:t>rator</a:t>
            </a:r>
            <a:r>
              <a:rPr lang="en-US" sz="2100" b="1" dirty="0">
                <a:latin typeface="Courier New" pitchFamily="49" charset="0"/>
              </a:rPr>
              <a:t> </a:t>
            </a:r>
            <a:r>
              <a:rPr lang="en-US" sz="2100" b="1" dirty="0" err="1">
                <a:latin typeface="Courier New" pitchFamily="49" charset="0"/>
              </a:rPr>
              <a:t>rands</a:t>
            </a:r>
            <a:r>
              <a:rPr lang="en-US" sz="2100" b="1" dirty="0">
                <a:latin typeface="Courier New" pitchFamily="49" charset="0"/>
              </a:rPr>
              <a:t>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(</a:t>
            </a:r>
            <a:r>
              <a:rPr lang="en-US" sz="2100" b="1" dirty="0" err="1">
                <a:latin typeface="Courier New" pitchFamily="49" charset="0"/>
              </a:rPr>
              <a:t>eval</a:t>
            </a:r>
            <a:r>
              <a:rPr lang="en-US" sz="2100" b="1" dirty="0">
                <a:latin typeface="Courier New" pitchFamily="49" charset="0"/>
              </a:rPr>
              <a:t>-exp </a:t>
            </a:r>
            <a:r>
              <a:rPr lang="en-US" sz="2100" b="1" dirty="0" err="1">
                <a:latin typeface="Courier New" pitchFamily="49" charset="0"/>
              </a:rPr>
              <a:t>rator</a:t>
            </a:r>
            <a:endParaRPr lang="en-US" sz="21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          </a:t>
            </a:r>
            <a:r>
              <a:rPr lang="en-US" sz="2100" b="1" dirty="0" err="1">
                <a:latin typeface="Courier New" pitchFamily="49" charset="0"/>
              </a:rPr>
              <a:t>env</a:t>
            </a:r>
            <a:endParaRPr lang="en-US" sz="21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en-US" sz="2100" b="1" dirty="0">
                <a:latin typeface="Courier New" pitchFamily="49" charset="0"/>
              </a:rPr>
              <a:t>                         </a:t>
            </a:r>
            <a:r>
              <a:rPr lang="en-US" sz="2100" b="1" dirty="0">
                <a:solidFill>
                  <a:srgbClr val="00B0F0"/>
                </a:solidFill>
                <a:latin typeface="Courier New" pitchFamily="49" charset="0"/>
              </a:rPr>
              <a:t>(test-k rands env k))]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...)))</a:t>
            </a:r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DEB64A9-3A30-FCF4-8101-E6428904E56B}"/>
              </a:ext>
            </a:extLst>
          </p:cNvPr>
          <p:cNvSpPr/>
          <p:nvPr/>
        </p:nvSpPr>
        <p:spPr>
          <a:xfrm>
            <a:off x="594014" y="6324600"/>
            <a:ext cx="7406986" cy="457200"/>
          </a:xfrm>
          <a:prstGeom prst="wedgeRoundRectCallout">
            <a:avLst>
              <a:gd name="adj1" fmla="val 4775"/>
              <a:gd name="adj2" fmla="val -912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This would be called </a:t>
            </a:r>
            <a:r>
              <a:rPr lang="en-US" dirty="0" err="1"/>
              <a:t>stepX</a:t>
            </a:r>
            <a:r>
              <a:rPr lang="en-US" dirty="0"/>
              <a:t> or similar in our usual CPS style 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Continuations in the interpreter</a:t>
            </a:r>
          </a:p>
        </p:txBody>
      </p:sp>
      <p:sp>
        <p:nvSpPr>
          <p:cNvPr id="92163" name="Rectangle 3"/>
          <p:cNvSpPr>
            <a:spLocks noGrp="1" noChangeArrowheads="1"/>
          </p:cNvSpPr>
          <p:nvPr>
            <p:ph idx="1"/>
          </p:nvPr>
        </p:nvSpPr>
        <p:spPr>
          <a:xfrm>
            <a:off x="0" y="2286000"/>
            <a:ext cx="9144000" cy="4572000"/>
          </a:xfrm>
        </p:spPr>
        <p:txBody>
          <a:bodyPr/>
          <a:lstStyle/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(define </a:t>
            </a:r>
            <a:r>
              <a:rPr lang="en-US" sz="2000" b="1" dirty="0" err="1">
                <a:latin typeface="Courier New" pitchFamily="49" charset="0"/>
              </a:rPr>
              <a:t>eval</a:t>
            </a:r>
            <a:r>
              <a:rPr lang="en-US" sz="2000" b="1" dirty="0">
                <a:latin typeface="Courier New" pitchFamily="49" charset="0"/>
              </a:rPr>
              <a:t>-exp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(lambda (exp </a:t>
            </a:r>
            <a:r>
              <a:rPr lang="en-US" sz="2000" b="1" dirty="0" err="1">
                <a:latin typeface="Courier New" pitchFamily="49" charset="0"/>
              </a:rPr>
              <a:t>env</a:t>
            </a:r>
            <a:r>
              <a:rPr lang="en-US" sz="2000" b="1" dirty="0">
                <a:latin typeface="Courier New" pitchFamily="49" charset="0"/>
              </a:rPr>
              <a:t> k)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(cases expression exp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[literal-exp (datum)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  </a:t>
            </a:r>
            <a:r>
              <a:rPr lang="en-US" sz="2000" b="1" dirty="0">
                <a:solidFill>
                  <a:schemeClr val="accent4"/>
                </a:solidFill>
                <a:latin typeface="Courier New" pitchFamily="49" charset="0"/>
              </a:rPr>
              <a:t>(apply-k k datum)]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</a:t>
            </a:r>
            <a:r>
              <a:rPr lang="en-US" b="1" dirty="0"/>
              <a:t>; </a:t>
            </a:r>
            <a:r>
              <a:rPr lang="en-US" sz="2400" b="1" dirty="0">
                <a:latin typeface="Courier New" pitchFamily="49" charset="0"/>
                <a:cs typeface="Courier New" pitchFamily="49" charset="0"/>
              </a:rPr>
              <a:t>skip some of the other cases for now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[if-exp (test-exp then-exp else-exp)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  (</a:t>
            </a:r>
            <a:r>
              <a:rPr lang="en-US" sz="2000" b="1" dirty="0" err="1">
                <a:latin typeface="Courier New" pitchFamily="49" charset="0"/>
              </a:rPr>
              <a:t>eval</a:t>
            </a:r>
            <a:r>
              <a:rPr lang="en-US" sz="2000" b="1" dirty="0">
                <a:latin typeface="Courier New" pitchFamily="49" charset="0"/>
              </a:rPr>
              <a:t>-exp test-exp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            </a:t>
            </a:r>
            <a:r>
              <a:rPr lang="en-US" sz="2000" b="1" dirty="0" err="1">
                <a:latin typeface="Courier New" pitchFamily="49" charset="0"/>
              </a:rPr>
              <a:t>env</a:t>
            </a:r>
            <a:endParaRPr lang="en-US" sz="2000" b="1" dirty="0">
              <a:latin typeface="Courier New" pitchFamily="49" charset="0"/>
            </a:endParaRP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             (</a:t>
            </a:r>
            <a:r>
              <a:rPr lang="en-US" sz="2000" b="1" dirty="0">
                <a:solidFill>
                  <a:schemeClr val="accent4"/>
                </a:solidFill>
                <a:latin typeface="Courier New" pitchFamily="49" charset="0"/>
              </a:rPr>
              <a:t>test-k then-exp else-exp env k))]</a:t>
            </a:r>
            <a:br>
              <a:rPr lang="en-US" sz="2000" b="1" dirty="0">
                <a:latin typeface="Courier New" pitchFamily="49" charset="0"/>
              </a:rPr>
            </a:br>
            <a:endParaRPr lang="en-US" sz="2000" b="1" dirty="0">
              <a:latin typeface="Courier New" pitchFamily="49" charset="0"/>
            </a:endParaRP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</a:t>
            </a:r>
            <a:r>
              <a:rPr lang="en-US" sz="2400" b="1" dirty="0"/>
              <a:t>; </a:t>
            </a:r>
            <a:r>
              <a:rPr lang="en-US" sz="2200" b="1" dirty="0"/>
              <a:t>skip some more cases 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r>
              <a:rPr lang="en-US" sz="2000" b="1" dirty="0">
                <a:latin typeface="Courier New" pitchFamily="49" charset="0"/>
              </a:rPr>
              <a:t>      )))</a:t>
            </a: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endParaRPr lang="en-US" sz="2000" b="1" dirty="0">
              <a:latin typeface="Courier New" pitchFamily="49" charset="0"/>
            </a:endParaRPr>
          </a:p>
          <a:p>
            <a:pPr>
              <a:lnSpc>
                <a:spcPct val="85000"/>
              </a:lnSpc>
              <a:spcBef>
                <a:spcPct val="0"/>
              </a:spcBef>
              <a:buFontTx/>
              <a:buNone/>
            </a:pPr>
            <a:endParaRPr lang="en-US" sz="2000" b="1" dirty="0">
              <a:latin typeface="Courier New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Representing Continuations by Data Types</a:t>
            </a:r>
          </a:p>
        </p:txBody>
      </p:sp>
      <p:sp>
        <p:nvSpPr>
          <p:cNvPr id="93187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2286000"/>
            <a:ext cx="8991600" cy="44196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1800" b="1" dirty="0">
                <a:latin typeface="Courier New" pitchFamily="49" charset="0"/>
              </a:rPr>
              <a:t>(define-datatype continuation </a:t>
            </a:r>
            <a:r>
              <a:rPr lang="en-US" sz="1800" b="1" dirty="0" err="1">
                <a:latin typeface="Courier New" pitchFamily="49" charset="0"/>
              </a:rPr>
              <a:t>continuation</a:t>
            </a:r>
            <a:r>
              <a:rPr lang="en-US" sz="1800" b="1" dirty="0">
                <a:latin typeface="Courier New" pitchFamily="49" charset="0"/>
              </a:rPr>
              <a:t>?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[test-k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  (then-exp expression?)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  (else-exp expression?)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  (</a:t>
            </a:r>
            <a:r>
              <a:rPr lang="en-US" sz="1800" b="1" dirty="0" err="1">
                <a:latin typeface="Courier New" pitchFamily="49" charset="0"/>
              </a:rPr>
              <a:t>env</a:t>
            </a:r>
            <a:r>
              <a:rPr lang="en-US" sz="1800" b="1" dirty="0">
                <a:latin typeface="Courier New" pitchFamily="49" charset="0"/>
              </a:rPr>
              <a:t> environment?)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  (k continuation?)]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 ; we will add other continuation variants.</a:t>
            </a:r>
            <a:br>
              <a:rPr lang="en-US" sz="1800" b="1" dirty="0">
                <a:latin typeface="Courier New" pitchFamily="49" charset="0"/>
              </a:rPr>
            </a:br>
            <a:r>
              <a:rPr lang="en-US" sz="1800" b="1" dirty="0">
                <a:latin typeface="Courier New" pitchFamily="49" charset="0"/>
              </a:rPr>
              <a:t> )</a:t>
            </a:r>
            <a:br>
              <a:rPr lang="en-US" sz="1600" b="1" dirty="0">
                <a:latin typeface="Courier New" pitchFamily="49" charset="0"/>
              </a:rPr>
            </a:br>
            <a:endParaRPr lang="en-US" sz="1600" b="1" dirty="0">
              <a:latin typeface="Courier New" pitchFamily="49" charset="0"/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latin typeface="Courier New" pitchFamily="49" charset="0"/>
              </a:rPr>
              <a:t>(define apply-k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(lambda (k </a:t>
            </a:r>
            <a:r>
              <a:rPr lang="en-US" sz="1600" b="1" dirty="0" err="1">
                <a:latin typeface="Courier New" pitchFamily="49" charset="0"/>
              </a:rPr>
              <a:t>val</a:t>
            </a:r>
            <a:r>
              <a:rPr lang="en-US" sz="1600" b="1" dirty="0">
                <a:latin typeface="Courier New" pitchFamily="49" charset="0"/>
              </a:rPr>
              <a:t>)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(cases continuation k</a:t>
            </a:r>
            <a:r>
              <a:rPr lang="en-US" sz="1600" dirty="0">
                <a:latin typeface="Courier New" pitchFamily="49" charset="0"/>
              </a:rPr>
              <a:t> 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  [test-k (then-exp else-exp </a:t>
            </a:r>
            <a:r>
              <a:rPr lang="en-US" sz="1600" b="1" dirty="0" err="1">
                <a:latin typeface="Courier New" pitchFamily="49" charset="0"/>
              </a:rPr>
              <a:t>env</a:t>
            </a:r>
            <a:r>
              <a:rPr lang="en-US" sz="1600" b="1" dirty="0">
                <a:latin typeface="Courier New" pitchFamily="49" charset="0"/>
              </a:rPr>
              <a:t> k)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    (if </a:t>
            </a:r>
            <a:r>
              <a:rPr lang="en-US" sz="1600" b="1" dirty="0" err="1">
                <a:latin typeface="Courier New" pitchFamily="49" charset="0"/>
              </a:rPr>
              <a:t>val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        (</a:t>
            </a:r>
            <a:r>
              <a:rPr lang="en-US" sz="1600" b="1" dirty="0" err="1">
                <a:latin typeface="Courier New" pitchFamily="49" charset="0"/>
              </a:rPr>
              <a:t>eval</a:t>
            </a:r>
            <a:r>
              <a:rPr lang="en-US" sz="1600" b="1" dirty="0">
                <a:latin typeface="Courier New" pitchFamily="49" charset="0"/>
              </a:rPr>
              <a:t>-exp then-exp </a:t>
            </a:r>
            <a:r>
              <a:rPr lang="en-US" sz="1600" b="1" dirty="0" err="1">
                <a:latin typeface="Courier New" pitchFamily="49" charset="0"/>
              </a:rPr>
              <a:t>env</a:t>
            </a:r>
            <a:r>
              <a:rPr lang="en-US" sz="1600" b="1" dirty="0">
                <a:latin typeface="Courier New" pitchFamily="49" charset="0"/>
              </a:rPr>
              <a:t> k)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        (</a:t>
            </a:r>
            <a:r>
              <a:rPr lang="en-US" sz="1600" b="1" dirty="0" err="1">
                <a:latin typeface="Courier New" pitchFamily="49" charset="0"/>
              </a:rPr>
              <a:t>eval</a:t>
            </a:r>
            <a:r>
              <a:rPr lang="en-US" sz="1600" b="1" dirty="0">
                <a:latin typeface="Courier New" pitchFamily="49" charset="0"/>
              </a:rPr>
              <a:t>-exp else-exp </a:t>
            </a:r>
            <a:r>
              <a:rPr lang="en-US" sz="1600" b="1" dirty="0" err="1">
                <a:latin typeface="Courier New" pitchFamily="49" charset="0"/>
              </a:rPr>
              <a:t>env</a:t>
            </a:r>
            <a:r>
              <a:rPr lang="en-US" sz="1600" b="1" dirty="0">
                <a:latin typeface="Courier New" pitchFamily="49" charset="0"/>
              </a:rPr>
              <a:t> k))]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  ; we will add other continuation variants.</a:t>
            </a:r>
            <a:br>
              <a:rPr lang="en-US" sz="1600" b="1" dirty="0">
                <a:latin typeface="Courier New" pitchFamily="49" charset="0"/>
              </a:rPr>
            </a:br>
            <a:r>
              <a:rPr lang="en-US" sz="1600" b="1" dirty="0">
                <a:latin typeface="Courier New" pitchFamily="49" charset="0"/>
              </a:rPr>
              <a:t>    )))</a:t>
            </a:r>
          </a:p>
          <a:p>
            <a:pPr>
              <a:lnSpc>
                <a:spcPct val="90000"/>
              </a:lnSpc>
            </a:pPr>
            <a:endParaRPr lang="en-US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en-US" sz="1600" dirty="0">
              <a:latin typeface="Courier New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continuation datatype</a:t>
            </a:r>
          </a:p>
        </p:txBody>
      </p:sp>
      <p:sp>
        <p:nvSpPr>
          <p:cNvPr id="1075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438400"/>
            <a:ext cx="8534400" cy="3886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(define-datatype continuation </a:t>
            </a:r>
            <a:r>
              <a:rPr lang="en-US" sz="2600" b="1" dirty="0" err="1">
                <a:latin typeface="Courier New" pitchFamily="49" charset="0"/>
              </a:rPr>
              <a:t>continuation</a:t>
            </a:r>
            <a:r>
              <a:rPr lang="en-US" sz="2600" b="1" dirty="0">
                <a:latin typeface="Courier New" pitchFamily="49" charset="0"/>
              </a:rPr>
              <a:t>?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(test-k (then-exp expression?)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(else-exp expression?)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(</a:t>
            </a:r>
            <a:r>
              <a:rPr lang="en-US" sz="2600" b="1" dirty="0" err="1">
                <a:latin typeface="Courier New" pitchFamily="49" charset="0"/>
              </a:rPr>
              <a:t>env</a:t>
            </a:r>
            <a:r>
              <a:rPr lang="en-US" sz="2600" b="1" dirty="0">
                <a:latin typeface="Courier New" pitchFamily="49" charset="0"/>
              </a:rPr>
              <a:t> environment?)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(k continuation?))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(</a:t>
            </a:r>
            <a:r>
              <a:rPr lang="en-US" sz="2600" b="1" dirty="0" err="1">
                <a:latin typeface="Courier New" pitchFamily="49" charset="0"/>
              </a:rPr>
              <a:t>rator</a:t>
            </a:r>
            <a:r>
              <a:rPr lang="en-US" sz="2600" b="1" dirty="0">
                <a:latin typeface="Courier New" pitchFamily="49" charset="0"/>
              </a:rPr>
              <a:t>-k (</a:t>
            </a:r>
            <a:r>
              <a:rPr lang="en-US" sz="2600" b="1" dirty="0" err="1">
                <a:latin typeface="Courier New" pitchFamily="49" charset="0"/>
              </a:rPr>
              <a:t>rands</a:t>
            </a:r>
            <a:r>
              <a:rPr lang="en-US" sz="2600" b="1" dirty="0">
                <a:latin typeface="Courier New" pitchFamily="49" charset="0"/>
              </a:rPr>
              <a:t> (list-of? expression?))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 (</a:t>
            </a:r>
            <a:r>
              <a:rPr lang="en-US" sz="2600" b="1" dirty="0" err="1">
                <a:latin typeface="Courier New" pitchFamily="49" charset="0"/>
              </a:rPr>
              <a:t>env</a:t>
            </a:r>
            <a:r>
              <a:rPr lang="en-US" sz="2600" b="1" dirty="0">
                <a:latin typeface="Courier New" pitchFamily="49" charset="0"/>
              </a:rPr>
              <a:t> environment?)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 (k continuation?))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(</a:t>
            </a:r>
            <a:r>
              <a:rPr lang="en-US" sz="2600" b="1" dirty="0" err="1">
                <a:latin typeface="Courier New" pitchFamily="49" charset="0"/>
              </a:rPr>
              <a:t>rands</a:t>
            </a:r>
            <a:r>
              <a:rPr lang="en-US" sz="2600" b="1" dirty="0">
                <a:latin typeface="Courier New" pitchFamily="49" charset="0"/>
              </a:rPr>
              <a:t>-k (proc-value scheme-value?)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600" b="1" dirty="0">
                <a:latin typeface="Courier New" pitchFamily="49" charset="0"/>
              </a:rPr>
              <a:t>          (k continuation?))  </a:t>
            </a:r>
            <a:r>
              <a:rPr lang="en-US" sz="2600" b="1" dirty="0">
                <a:solidFill>
                  <a:srgbClr val="FF0000"/>
                </a:solidFill>
                <a:latin typeface="Courier New" pitchFamily="49" charset="0"/>
              </a:rPr>
              <a:t>; etc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apply-k</a:t>
            </a:r>
          </a:p>
        </p:txBody>
      </p:sp>
      <p:sp>
        <p:nvSpPr>
          <p:cNvPr id="108547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2286000"/>
            <a:ext cx="8763000" cy="45720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(define apply-k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(lambda (k </a:t>
            </a:r>
            <a:r>
              <a:rPr lang="en-US" sz="2100" b="1" dirty="0" err="1">
                <a:latin typeface="Courier New" pitchFamily="49" charset="0"/>
              </a:rPr>
              <a:t>val</a:t>
            </a:r>
            <a:r>
              <a:rPr lang="en-US" sz="2100" b="1" dirty="0">
                <a:latin typeface="Courier New" pitchFamily="49" charset="0"/>
              </a:rPr>
              <a:t>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(cases continuation k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[test-k (then-exp else-exp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k)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(if </a:t>
            </a:r>
            <a:r>
              <a:rPr lang="en-US" sz="2100" b="1" dirty="0" err="1">
                <a:latin typeface="Courier New" pitchFamily="49" charset="0"/>
              </a:rPr>
              <a:t>val</a:t>
            </a:r>
            <a:endParaRPr lang="en-US" sz="21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   (</a:t>
            </a:r>
            <a:r>
              <a:rPr lang="en-US" sz="2100" b="1" dirty="0" err="1">
                <a:latin typeface="Courier New" pitchFamily="49" charset="0"/>
              </a:rPr>
              <a:t>eval</a:t>
            </a:r>
            <a:r>
              <a:rPr lang="en-US" sz="2100" b="1" dirty="0">
                <a:latin typeface="Courier New" pitchFamily="49" charset="0"/>
              </a:rPr>
              <a:t>-exp then-exp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k)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   (</a:t>
            </a:r>
            <a:r>
              <a:rPr lang="en-US" sz="2100" b="1" dirty="0" err="1">
                <a:latin typeface="Courier New" pitchFamily="49" charset="0"/>
              </a:rPr>
              <a:t>eval</a:t>
            </a:r>
            <a:r>
              <a:rPr lang="en-US" sz="2100" b="1" dirty="0">
                <a:latin typeface="Courier New" pitchFamily="49" charset="0"/>
              </a:rPr>
              <a:t>-exp else-exp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k))]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</a:t>
            </a:r>
            <a:r>
              <a:rPr lang="en-US" sz="2100" b="1" dirty="0" err="1">
                <a:latin typeface="Courier New" pitchFamily="49" charset="0"/>
              </a:rPr>
              <a:t>rator</a:t>
            </a:r>
            <a:r>
              <a:rPr lang="en-US" sz="2100" b="1" dirty="0">
                <a:latin typeface="Courier New" pitchFamily="49" charset="0"/>
              </a:rPr>
              <a:t>-k (</a:t>
            </a:r>
            <a:r>
              <a:rPr lang="en-US" sz="2100" b="1" dirty="0" err="1">
                <a:latin typeface="Courier New" pitchFamily="49" charset="0"/>
              </a:rPr>
              <a:t>rands</a:t>
            </a:r>
            <a:r>
              <a:rPr lang="en-US" sz="2100" b="1" dirty="0">
                <a:latin typeface="Courier New" pitchFamily="49" charset="0"/>
              </a:rPr>
              <a:t> </a:t>
            </a:r>
            <a:r>
              <a:rPr lang="en-US" sz="2100" b="1" dirty="0" err="1">
                <a:latin typeface="Courier New" pitchFamily="49" charset="0"/>
              </a:rPr>
              <a:t>env</a:t>
            </a:r>
            <a:r>
              <a:rPr lang="en-US" sz="2100" b="1" dirty="0">
                <a:latin typeface="Courier New" pitchFamily="49" charset="0"/>
              </a:rPr>
              <a:t> k)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(</a:t>
            </a:r>
            <a:r>
              <a:rPr lang="en-US" sz="2100" b="1" dirty="0" err="1">
                <a:latin typeface="Courier New" pitchFamily="49" charset="0"/>
              </a:rPr>
              <a:t>eval-rands</a:t>
            </a:r>
            <a:r>
              <a:rPr lang="en-US" sz="2100" b="1" dirty="0">
                <a:latin typeface="Courier New" pitchFamily="49" charset="0"/>
              </a:rPr>
              <a:t> </a:t>
            </a:r>
            <a:r>
              <a:rPr lang="en-US" sz="2100" b="1" dirty="0" err="1">
                <a:latin typeface="Courier New" pitchFamily="49" charset="0"/>
              </a:rPr>
              <a:t>rands</a:t>
            </a:r>
            <a:endParaRPr lang="en-US" sz="21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            </a:t>
            </a:r>
            <a:r>
              <a:rPr lang="en-US" sz="2100" b="1" dirty="0" err="1">
                <a:latin typeface="Courier New" pitchFamily="49" charset="0"/>
              </a:rPr>
              <a:t>env</a:t>
            </a:r>
            <a:endParaRPr lang="en-US" sz="21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            (</a:t>
            </a:r>
            <a:r>
              <a:rPr lang="en-US" sz="2100" b="1" dirty="0" err="1">
                <a:latin typeface="Courier New" pitchFamily="49" charset="0"/>
              </a:rPr>
              <a:t>rands</a:t>
            </a:r>
            <a:r>
              <a:rPr lang="en-US" sz="2100" b="1" dirty="0">
                <a:latin typeface="Courier New" pitchFamily="49" charset="0"/>
              </a:rPr>
              <a:t>-k </a:t>
            </a:r>
            <a:r>
              <a:rPr lang="en-US" sz="2100" b="1" dirty="0" err="1">
                <a:latin typeface="Courier New" pitchFamily="49" charset="0"/>
              </a:rPr>
              <a:t>val</a:t>
            </a:r>
            <a:r>
              <a:rPr lang="en-US" sz="2100" b="1" dirty="0">
                <a:latin typeface="Courier New" pitchFamily="49" charset="0"/>
              </a:rPr>
              <a:t> k))]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[</a:t>
            </a:r>
            <a:r>
              <a:rPr lang="en-US" sz="2100" b="1" dirty="0" err="1">
                <a:latin typeface="Courier New" pitchFamily="49" charset="0"/>
              </a:rPr>
              <a:t>rands</a:t>
            </a:r>
            <a:r>
              <a:rPr lang="en-US" sz="2100" b="1" dirty="0">
                <a:latin typeface="Courier New" pitchFamily="49" charset="0"/>
              </a:rPr>
              <a:t>-k (proc-value k)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en-US" sz="2100" b="1" dirty="0">
                <a:latin typeface="Courier New" pitchFamily="49" charset="0"/>
              </a:rPr>
              <a:t>               (apply-proc proc-value </a:t>
            </a:r>
            <a:r>
              <a:rPr lang="en-US" sz="2100" b="1" dirty="0" err="1">
                <a:latin typeface="Courier New" pitchFamily="49" charset="0"/>
              </a:rPr>
              <a:t>val</a:t>
            </a:r>
            <a:r>
              <a:rPr lang="en-US" sz="2100" b="1" dirty="0">
                <a:latin typeface="Courier New" pitchFamily="49" charset="0"/>
              </a:rPr>
              <a:t> k)])) </a:t>
            </a:r>
            <a:r>
              <a:rPr lang="en-US" sz="2100" b="1" dirty="0">
                <a:solidFill>
                  <a:srgbClr val="5FEE5F"/>
                </a:solidFill>
                <a:latin typeface="Courier New" pitchFamily="49" charset="0"/>
              </a:rPr>
              <a:t>; etc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B4D16-DBDF-2E64-E7DA-1F3C30964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procedures are substantial?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5AB57-865A-DC53-67AD-BD681154F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 procedure that calls and is called by eval-exp</a:t>
            </a:r>
          </a:p>
          <a:p>
            <a:r>
              <a:rPr lang="en-US" dirty="0"/>
              <a:t>Beware in particular of eval-rands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522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48EF6-50E1-2282-408B-CEF1A49EFF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Understanding Scheme Continuations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0477975-1091-A133-F661-1F380F66F6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Part1 of Many</a:t>
            </a:r>
          </a:p>
        </p:txBody>
      </p:sp>
    </p:spTree>
    <p:extLst>
      <p:ext uri="{BB962C8B-B14F-4D97-AF65-F5344CB8AC3E}">
        <p14:creationId xmlns:p14="http://schemas.microsoft.com/office/powerpoint/2010/main" val="4025572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DDCD-D93D-3806-AD43-06539BFD3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24001"/>
            <a:ext cx="7886700" cy="465296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 user-defined procedures</a:t>
            </a:r>
          </a:p>
          <a:p>
            <a:r>
              <a:rPr lang="en-US" dirty="0"/>
              <a:t>All variables are global</a:t>
            </a:r>
          </a:p>
          <a:p>
            <a:r>
              <a:rPr lang="en-US" dirty="0"/>
              <a:t>All lines are numbered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10 c := SQRT a</a:t>
            </a:r>
          </a:p>
          <a:p>
            <a:pPr marL="0" indent="0">
              <a:buNone/>
            </a:pPr>
            <a:r>
              <a:rPr lang="en-US" dirty="0"/>
              <a:t>20 PRINT c</a:t>
            </a:r>
          </a:p>
          <a:p>
            <a:pPr marL="0" indent="0">
              <a:buNone/>
            </a:pPr>
            <a:r>
              <a:rPr lang="en-US" dirty="0"/>
              <a:t>30 IF c &gt; 5 GOTO 70 ELSE GOTO 200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Now imagine we have a special instruction GET_LINE that retrieves the number of the current line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100 </a:t>
            </a:r>
            <a:r>
              <a:rPr lang="en-US" dirty="0" err="1"/>
              <a:t>oldLine</a:t>
            </a:r>
            <a:r>
              <a:rPr lang="en-US" dirty="0"/>
              <a:t> := GET_LINE</a:t>
            </a:r>
          </a:p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150 GOTO </a:t>
            </a:r>
            <a:r>
              <a:rPr lang="en-US" dirty="0" err="1"/>
              <a:t>oldLine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C136A8-8EF9-182F-6C4D-2EAB943F9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77874"/>
          </a:xfrm>
        </p:spPr>
        <p:txBody>
          <a:bodyPr/>
          <a:lstStyle/>
          <a:p>
            <a:r>
              <a:rPr lang="en-US" dirty="0"/>
              <a:t>A very simple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1624373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C5EE1-F51E-1B05-C916-72D1B3673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let’s say we want to add that capability to a language like Scheme.  What stops us?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D7687-5EFE-2C05-8113-D7EB0BFBC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myCoolProc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               (</a:t>
            </a:r>
            <a:r>
              <a:rPr lang="en-US" dirty="0" err="1"/>
              <a:t>otherProc</a:t>
            </a:r>
            <a:r>
              <a:rPr lang="en-US" dirty="0"/>
              <a:t> a b)</a:t>
            </a:r>
          </a:p>
          <a:p>
            <a:pPr marL="0" indent="0">
              <a:buNone/>
            </a:pPr>
            <a:r>
              <a:rPr lang="en-US" dirty="0"/>
              <a:t>                 (set! c (GET_LINE))</a:t>
            </a:r>
          </a:p>
          <a:p>
            <a:pPr marL="0" indent="0">
              <a:buNone/>
            </a:pPr>
            <a:r>
              <a:rPr lang="en-US" dirty="0"/>
              <a:t>                 (otherProc2 d e))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…elsewhere </a:t>
            </a:r>
          </a:p>
          <a:p>
            <a:pPr marL="0" indent="0">
              <a:buNone/>
            </a:pPr>
            <a:r>
              <a:rPr lang="en-US" dirty="0"/>
              <a:t>(GOTO c)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One big issue: a question of what is *before* and what is *after*</a:t>
            </a:r>
          </a:p>
          <a:p>
            <a:pPr marL="0" indent="0">
              <a:buNone/>
            </a:pPr>
            <a:r>
              <a:rPr lang="en-US" dirty="0"/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14379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21026</TotalTime>
  <Words>787</Words>
  <Application>Microsoft Office PowerPoint</Application>
  <PresentationFormat>On-screen Show (4:3)</PresentationFormat>
  <Paragraphs>127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Courier New</vt:lpstr>
      <vt:lpstr>Times New Roman</vt:lpstr>
      <vt:lpstr>Office Theme</vt:lpstr>
      <vt:lpstr>Interpreter in CPS </vt:lpstr>
      <vt:lpstr>Convert our Interpreter to CPS</vt:lpstr>
      <vt:lpstr>Convert our Interpreter to CPS</vt:lpstr>
      <vt:lpstr>Some changes to eval-exp</vt:lpstr>
      <vt:lpstr>Continuations in the interpreter</vt:lpstr>
      <vt:lpstr>Representing Continuations by Data Types</vt:lpstr>
      <vt:lpstr>continuation datatype</vt:lpstr>
      <vt:lpstr>apply-k</vt:lpstr>
      <vt:lpstr>What procedures are substantial?</vt:lpstr>
      <vt:lpstr>Understanding Scheme Continuations</vt:lpstr>
      <vt:lpstr>A very simple programming language</vt:lpstr>
      <vt:lpstr>Now let’s say we want to add that capability to a language like Scheme.  What stops us?</vt:lpstr>
    </vt:vector>
  </TitlesOfParts>
  <Company>Honeywell Project Operations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Laser Accent 1</dc:title>
  <dc:creator>nshastry</dc:creator>
  <cp:lastModifiedBy>Hewner, Mike</cp:lastModifiedBy>
  <cp:revision>172</cp:revision>
  <cp:lastPrinted>2018-10-29T12:35:21Z</cp:lastPrinted>
  <dcterms:created xsi:type="dcterms:W3CDTF">2001-03-11T15:54:35Z</dcterms:created>
  <dcterms:modified xsi:type="dcterms:W3CDTF">2025-10-24T21:05:29Z</dcterms:modified>
</cp:coreProperties>
</file>