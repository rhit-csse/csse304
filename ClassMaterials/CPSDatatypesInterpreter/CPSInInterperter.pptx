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/>
  <p:notesSz cx="7315200" cy="9601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8ED20C-3A0B-4C24-A5C6-1F513CE8698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ldImg"/>
          </p:nvPr>
        </p:nvSpPr>
        <p:spPr>
          <a:xfrm>
            <a:off x="1255680" y="720720"/>
            <a:ext cx="4804920" cy="3603240"/>
          </a:xfrm>
          <a:prstGeom prst="rect">
            <a:avLst/>
          </a:prstGeom>
          <a:ln w="0">
            <a:noFill/>
          </a:ln>
        </p:spPr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7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b">
            <a:noAutofit/>
          </a:bodyPr>
          <a:lstStyle>
            <a:lvl1pPr indent="0" algn="r" defTabSz="97488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4880">
              <a:lnSpc>
                <a:spcPct val="100000"/>
              </a:lnSpc>
              <a:buNone/>
            </a:pPr>
            <a:fld id="{D008C72E-7EB0-4C24-9C64-5DBED1976419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1255680" y="720720"/>
            <a:ext cx="4804920" cy="360324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t">
            <a:norm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38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b">
            <a:noAutofit/>
          </a:bodyPr>
          <a:lstStyle>
            <a:lvl1pPr indent="0" algn="r" defTabSz="97488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4880">
              <a:lnSpc>
                <a:spcPct val="100000"/>
              </a:lnSpc>
              <a:buNone/>
            </a:pPr>
            <a:fld id="{E95377CA-823D-4CCC-8AF9-58F794D5704B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1255680" y="720720"/>
            <a:ext cx="4804920" cy="360324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39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b">
            <a:noAutofit/>
          </a:bodyPr>
          <a:lstStyle>
            <a:lvl1pPr indent="0" algn="r" defTabSz="97488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4880">
              <a:lnSpc>
                <a:spcPct val="100000"/>
              </a:lnSpc>
              <a:buNone/>
            </a:pPr>
            <a:fld id="{2931278B-7A72-44E9-8AB7-D67BFFAA3FFB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1255680" y="720720"/>
            <a:ext cx="4804920" cy="360324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40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b">
            <a:noAutofit/>
          </a:bodyPr>
          <a:lstStyle>
            <a:lvl1pPr indent="0" algn="r" defTabSz="97488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4880">
              <a:lnSpc>
                <a:spcPct val="100000"/>
              </a:lnSpc>
              <a:buNone/>
            </a:pPr>
            <a:fld id="{29BE01DA-D54F-4D59-80AC-B35936C3716A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1255680" y="720720"/>
            <a:ext cx="4804920" cy="360324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41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b">
            <a:noAutofit/>
          </a:bodyPr>
          <a:lstStyle>
            <a:lvl1pPr indent="0" algn="r" defTabSz="97488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4880">
              <a:lnSpc>
                <a:spcPct val="100000"/>
              </a:lnSpc>
              <a:buNone/>
            </a:pPr>
            <a:fld id="{C964585B-55B2-4A0A-91BC-6EE1FADC7693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1255680" y="720720"/>
            <a:ext cx="4804920" cy="360324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t">
            <a:norm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2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b">
            <a:noAutofit/>
          </a:bodyPr>
          <a:lstStyle>
            <a:lvl1pPr indent="0" algn="r" defTabSz="97488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4880">
              <a:lnSpc>
                <a:spcPct val="100000"/>
              </a:lnSpc>
              <a:buNone/>
            </a:pPr>
            <a:fld id="{AE6F84CD-6CEF-48E6-A05E-BE461012F073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1255680" y="720720"/>
            <a:ext cx="4804920" cy="360324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3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b">
            <a:noAutofit/>
          </a:bodyPr>
          <a:lstStyle>
            <a:lvl1pPr indent="0" algn="r" defTabSz="97488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4880">
              <a:lnSpc>
                <a:spcPct val="100000"/>
              </a:lnSpc>
              <a:buNone/>
            </a:pPr>
            <a:fld id="{D0CF763D-1990-4B6A-B21D-44C45BA37433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1255680" y="720720"/>
            <a:ext cx="4804920" cy="360324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732600" y="4559760"/>
            <a:ext cx="5850000" cy="432072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t">
            <a:norm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4"/>
          </p:nvPr>
        </p:nvSpPr>
        <p:spPr>
          <a:xfrm>
            <a:off x="4143240" y="9119520"/>
            <a:ext cx="3170520" cy="479160"/>
          </a:xfrm>
          <a:prstGeom prst="rect">
            <a:avLst/>
          </a:prstGeom>
          <a:noFill/>
          <a:ln w="9360">
            <a:noFill/>
          </a:ln>
        </p:spPr>
        <p:txBody>
          <a:bodyPr numCol="1" spcCol="0" lIns="97560" rIns="97560" tIns="48960" bIns="48960" anchor="b">
            <a:noAutofit/>
          </a:bodyPr>
          <a:lstStyle>
            <a:lvl1pPr indent="0" algn="r" defTabSz="974880">
              <a:lnSpc>
                <a:spcPct val="100000"/>
              </a:lnSpc>
              <a:buNone/>
              <a:def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74880">
              <a:lnSpc>
                <a:spcPct val="100000"/>
              </a:lnSpc>
              <a:buNone/>
            </a:pPr>
            <a:fld id="{239CBE36-0B40-4E5C-BD58-90735CA88F57}" type="slidenum">
              <a:rPr b="0" lang="en-US" sz="13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b="0" lang="en-US" sz="45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65751D-990B-4710-8FB1-370AEEE47F44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308CD8-AB2C-4210-B1C8-0276A1AF7A8B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543720" y="365040"/>
            <a:ext cx="197136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28560" y="365040"/>
            <a:ext cx="58003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B02615-CE1A-4590-9738-FDCBBBC77E99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2DF4EC-282F-4DBD-9494-6D32D5378A04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23880" y="1709640"/>
            <a:ext cx="788652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45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4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23880" y="4589640"/>
            <a:ext cx="788652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38D118-20C1-4B90-B825-BDF6DF01A5B6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28560" y="1825560"/>
            <a:ext cx="38858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29240" y="1825560"/>
            <a:ext cx="38858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24C93F-C4D4-4970-BFB2-19AEE510D0E4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3000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30000" y="1681200"/>
            <a:ext cx="386784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30000" y="2505240"/>
            <a:ext cx="386784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29240" y="1681200"/>
            <a:ext cx="3886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29240" y="2505240"/>
            <a:ext cx="3886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35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3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E59515-50FC-4080-9EC0-4356F6E3658F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354F0D-3073-4D65-961C-4C9631F1D4A5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721862-0774-4CC5-ADCC-076351D9F0DA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30000" y="457200"/>
            <a:ext cx="294876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887280" y="987480"/>
            <a:ext cx="462888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20024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1542960" indent="-171360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630000" y="2057400"/>
            <a:ext cx="294876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461EE7-11CB-419E-98E5-4D132CE1362A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30000" y="457200"/>
            <a:ext cx="294876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887280" y="987480"/>
            <a:ext cx="462888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30000" y="2057400"/>
            <a:ext cx="294876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9B9D32-3A16-4F79-85B1-BAF6BF6FF210}" type="slidenum">
              <a:rPr b="0" lang="en-US" sz="900" strike="noStrike" u="non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en-US" sz="9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904720" y="833400"/>
            <a:ext cx="317988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b="0" lang="en-US" sz="45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Interpreter in CPS</a:t>
            </a:r>
            <a:br>
              <a:rPr sz="4500"/>
            </a:br>
            <a:endParaRPr b="0" lang="en-US" sz="4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5943600" y="2743200"/>
            <a:ext cx="2971440" cy="68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with data-structure continuations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360" y="33840"/>
            <a:ext cx="571464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429000" y="0"/>
            <a:ext cx="5562360" cy="182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Convert our Interpreter to CPS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6320" y="2666880"/>
            <a:ext cx="9143640" cy="487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lvl="1" marL="514440" indent="-171360" defTabSz="6858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The interpreter (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eval-exp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) will now take three arguments: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current expression to evaluate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current local environment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857160" indent="-171360" defTabSz="6858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current continuation</a:t>
            </a:r>
            <a:br>
              <a:rPr sz="1500"/>
            </a:br>
            <a:r>
              <a:rPr b="0" lang="en-US" sz="15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endParaRPr b="0" lang="en-US" sz="1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Continuation abstract data type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 constructor for each type of continuation that the interpreter uses.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514440" indent="-171360" defTabSz="6858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(apply-k k v),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a procedure that applies the continuation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k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to the value </a:t>
            </a:r>
            <a:r>
              <a:rPr b="1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v</a:t>
            </a:r>
            <a:r>
              <a:rPr b="0" lang="en-US" sz="9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imes New Roman"/>
              </a:rPr>
              <a:t>.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429000" y="0"/>
            <a:ext cx="57146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Convert our Interpreter to CPS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76320" y="1600200"/>
            <a:ext cx="9143640" cy="49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(define eval-exp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(lambda (exp env)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(cases expression exp </a:t>
            </a:r>
            <a:r>
              <a:rPr b="1" lang="en-US" sz="2200" strike="noStrike" u="none">
                <a:solidFill>
                  <a:srgbClr val="ff0000"/>
                </a:solidFill>
                <a:effectLst/>
                <a:uFillTx/>
                <a:latin typeface="Courier New"/>
              </a:rPr>
              <a:t>; look at typical cases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rgbClr val="ff0000"/>
                </a:solidFill>
                <a:effectLst/>
                <a:uFillTx/>
                <a:latin typeface="Courier New"/>
              </a:rPr>
              <a:t>      </a:t>
            </a: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[lit-exp (datum) datum]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[var-exp (id) (apply-env env id)]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[lambda-exp (formals body)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(closure formals body env)]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[app-exp (rator rands)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(let ([proc-value (eval-exp rator env)]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[args (eval-rands rands env)])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(apply-proc proc-value args))]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[let-exp (vars exps bodies)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(eval-bodies body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(extend-env vars 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    (eval-rands exps env) 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    env))]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</a:t>
            </a:r>
            <a:r>
              <a:rPr b="1" lang="en-US" sz="2200" strike="noStrike" u="none">
                <a:solidFill>
                  <a:srgbClr val="ff0000"/>
                </a:solidFill>
                <a:effectLst/>
                <a:uFillTx/>
                <a:latin typeface="Courier New"/>
              </a:rPr>
              <a:t>; there are more cases not shown here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)))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Some changes to eval-exp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0" y="2286000"/>
            <a:ext cx="9524520" cy="518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(define eval-exp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Courier New"/>
              </a:rPr>
              <a:t>;cps-version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(lambda (exp env </a:t>
            </a:r>
            <a:r>
              <a:rPr b="1" lang="en-US" sz="2100" strike="noStrike" u="none">
                <a:solidFill>
                  <a:srgbClr val="00b0f0"/>
                </a:solidFill>
                <a:effectLst/>
                <a:uFillTx/>
                <a:latin typeface="Courier New"/>
              </a:rPr>
              <a:t>k</a:t>
            </a: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(cases expression exp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Courier New"/>
              </a:rPr>
              <a:t>; look at typical cases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[lit-exp (datum) (</a:t>
            </a:r>
            <a:r>
              <a:rPr b="1" lang="en-US" sz="2100" strike="noStrike" u="none">
                <a:solidFill>
                  <a:srgbClr val="00b0f0"/>
                </a:solidFill>
                <a:effectLst/>
                <a:uFillTx/>
                <a:latin typeface="Courier New"/>
              </a:rPr>
              <a:t>apply-k k</a:t>
            </a: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datum)]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[var-exp (id) (apply-env env id </a:t>
            </a:r>
            <a:r>
              <a:rPr b="1" lang="en-US" sz="2100" strike="noStrike" u="none">
                <a:solidFill>
                  <a:srgbClr val="00b0f0"/>
                </a:solidFill>
                <a:effectLst/>
                <a:uFillTx/>
                <a:latin typeface="Courier New"/>
              </a:rPr>
              <a:t>k</a:t>
            </a: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fail-proc))]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[lambda-exp (formals bodies)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(</a:t>
            </a:r>
            <a:r>
              <a:rPr b="1" lang="en-US" sz="2100" strike="noStrike" u="none">
                <a:solidFill>
                  <a:srgbClr val="00b0f0"/>
                </a:solidFill>
                <a:effectLst/>
                <a:uFillTx/>
                <a:latin typeface="Courier New"/>
              </a:rPr>
              <a:t>apply-k k</a:t>
            </a: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(closure formals bodies env))]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[app-exp (rator rands)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(eval-exp rator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       env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       </a:t>
            </a:r>
            <a:r>
              <a:rPr b="1" lang="en-US" sz="2100" strike="noStrike" u="none">
                <a:solidFill>
                  <a:srgbClr val="00b0f0"/>
                </a:solidFill>
                <a:effectLst/>
                <a:uFillTx/>
                <a:latin typeface="Courier New"/>
              </a:rPr>
              <a:t>(test-k rands env k))]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...)))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Speech Bubble: Rectangle with Corners Rounded 1"/>
          <p:cNvSpPr/>
          <p:nvPr/>
        </p:nvSpPr>
        <p:spPr>
          <a:xfrm>
            <a:off x="594000" y="6324480"/>
            <a:ext cx="7406640" cy="456840"/>
          </a:xfrm>
          <a:prstGeom prst="wedgeRoundRectCallout">
            <a:avLst>
              <a:gd name="adj1" fmla="val 4775"/>
              <a:gd name="adj2" fmla="val -91218"/>
              <a:gd name="adj3" fmla="val 16667"/>
            </a:avLst>
          </a:prstGeom>
          <a:solidFill>
            <a:srgbClr val="15608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This would be called stepX or similar in our usual CPS style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Continuations in the interpreter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0" y="2286000"/>
            <a:ext cx="9143640" cy="45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(define eval-exp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(lambda (exp env k)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(cases expression exp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[literal-exp (datum)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</a:t>
            </a:r>
            <a:r>
              <a:rPr b="1" lang="en-US" sz="2000" strike="noStrike" u="none">
                <a:solidFill>
                  <a:schemeClr val="accent4"/>
                </a:solidFill>
                <a:effectLst/>
                <a:uFillTx/>
                <a:latin typeface="Courier New"/>
              </a:rPr>
              <a:t>(apply-k k datum)]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</a:t>
            </a: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;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skip some of the other cases for now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[if-exp (test-exp then-exp else-exp)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(eval-exp test-exp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 env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 (</a:t>
            </a:r>
            <a:r>
              <a:rPr b="1" lang="en-US" sz="2000" strike="noStrike" u="none">
                <a:solidFill>
                  <a:schemeClr val="accent4"/>
                </a:solidFill>
                <a:effectLst/>
                <a:uFillTx/>
                <a:latin typeface="Courier New"/>
              </a:rPr>
              <a:t>test-k then-exp else-exp env k))]</a:t>
            </a:r>
            <a:br>
              <a:rPr sz="2000"/>
            </a:b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</a:t>
            </a: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; </a:t>
            </a:r>
            <a:r>
              <a:rPr b="1" lang="en-US" sz="2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skip some more cases 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)))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5000"/>
              </a:lnSpc>
              <a:buNone/>
              <a:tabLst>
                <a:tab algn="l" pos="0"/>
              </a:tabLst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Representing Continuations by Data Types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52280" y="2286000"/>
            <a:ext cx="8991360" cy="44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(define-datatype continuation continuation?</a:t>
            </a:r>
            <a:br>
              <a:rPr sz="1800"/>
            </a:b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[test-k</a:t>
            </a:r>
            <a:br>
              <a:rPr sz="1800"/>
            </a:b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(then-exp expression?)</a:t>
            </a:r>
            <a:br>
              <a:rPr sz="1800"/>
            </a:b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(else-exp expression?)</a:t>
            </a:r>
            <a:br>
              <a:rPr sz="1800"/>
            </a:b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(env environment?)</a:t>
            </a:r>
            <a:br>
              <a:rPr sz="1800"/>
            </a:b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(k continuation?)]</a:t>
            </a:r>
            <a:br>
              <a:rPr sz="1800"/>
            </a:b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; we will add other continuation variants.</a:t>
            </a:r>
            <a:br>
              <a:rPr sz="1800"/>
            </a:b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)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(define apply-k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(lambda (k val)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(cases continuation k</a:t>
            </a: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[test-k (then-exp else-exp env k)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(if val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(eval-exp then-exp env k)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(eval-exp else-exp env k))]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; we will add other continuation variants.</a:t>
            </a:r>
            <a:br>
              <a:rPr sz="1600"/>
            </a:br>
            <a:r>
              <a:rPr b="1" lang="en-US" sz="1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)))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80000"/>
              </a:lnSpc>
              <a:spcBef>
                <a:spcPts val="751"/>
              </a:spcBef>
              <a:buNone/>
            </a:pPr>
            <a:endParaRPr b="0" lang="en-US" sz="1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continuation datatype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04920" y="2438280"/>
            <a:ext cx="8534160" cy="388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(define-datatype continuation continuation?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(test-k (then-exp expression?)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(else-exp expression?)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(env environment?)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(k continuation?))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(rator-k (rands (list-of? expression?))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(env environment?)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(k continuation?))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(rands-k (proc-value scheme-value?)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(k continuation?))  </a:t>
            </a:r>
            <a:r>
              <a:rPr b="1" lang="en-US" sz="2600" strike="noStrike" u="none">
                <a:solidFill>
                  <a:srgbClr val="ff0000"/>
                </a:solidFill>
                <a:effectLst/>
                <a:uFillTx/>
                <a:latin typeface="Courier New"/>
              </a:rPr>
              <a:t>; etc</a:t>
            </a:r>
            <a:endParaRPr b="0" lang="en-US" sz="26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apply-k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152280" y="2286000"/>
            <a:ext cx="8762760" cy="457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(define apply-k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(lambda (k val)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(cases continuation k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[test-k (then-exp else-exp env k)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(if val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(eval-exp then-exp env k)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(eval-exp else-exp env k))]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[rator-k (rands env k)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(eval-rands rands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         env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            (rands-k val k))]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[rands-k (proc-value k)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8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1" lang="en-US" sz="2100" strike="noStrike" u="none">
                <a:solidFill>
                  <a:schemeClr val="dk1"/>
                </a:solidFill>
                <a:effectLst/>
                <a:uFillTx/>
                <a:latin typeface="Courier New"/>
              </a:rPr>
              <a:t>               (apply-proc proc-value val k)])) </a:t>
            </a:r>
            <a:r>
              <a:rPr b="1" lang="en-US" sz="2100" strike="noStrike" u="none">
                <a:solidFill>
                  <a:srgbClr val="5fee5f"/>
                </a:solidFill>
                <a:effectLst/>
                <a:uFillTx/>
                <a:latin typeface="Courier New"/>
              </a:rPr>
              <a:t>; etc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What procedures are substantial?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Any procedure that calls and is called by eval-exp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Beware in particular of eval-rands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143000" y="1122480"/>
            <a:ext cx="6857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685800">
              <a:lnSpc>
                <a:spcPct val="90000"/>
              </a:lnSpc>
              <a:buNone/>
            </a:pPr>
            <a:r>
              <a:rPr b="0" lang="en-US" sz="45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Understanding Scheme Continuations</a:t>
            </a:r>
            <a:endParaRPr b="0" lang="en-US" sz="45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1143000" y="3602160"/>
            <a:ext cx="6857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Part1 of Many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628560" y="1523880"/>
            <a:ext cx="7886520" cy="465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No user-defined procedures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All variables are global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1360" indent="-171360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All lines are numbered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10 c := SQRT a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20 PRINT c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30 IF c &gt; 5 GOTO 70 ELSE GOTO 200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Now imagine we have a special instruction GET_LINE that retrieves the number of the current line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100 oldLine := GET_LINE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…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150 GOTO oldLine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77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A very simple programming language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685800">
              <a:lnSpc>
                <a:spcPct val="90000"/>
              </a:lnSpc>
              <a:buNone/>
            </a:pPr>
            <a:r>
              <a:rPr b="0" lang="en-US" sz="3300" strike="noStrike" u="none">
                <a:solidFill>
                  <a:schemeClr val="dk1"/>
                </a:solidFill>
                <a:effectLst/>
                <a:uFillTx/>
                <a:latin typeface="Aptos Display"/>
              </a:rPr>
              <a:t>Now let’s say we want to add that capability to a language like Scheme.  What stops us?</a:t>
            </a:r>
            <a:endParaRPr b="0" lang="en-US" sz="33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28560" y="1825560"/>
            <a:ext cx="78865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(myCoolProc 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       (otherProc a b)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       (set! c (GET_LINE))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       (otherProc2 d e))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…elsewhere 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(GOTO c)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One big issue: a question of what is *before* and what is *after*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685800">
              <a:lnSpc>
                <a:spcPct val="90000"/>
              </a:lnSpc>
              <a:spcBef>
                <a:spcPts val="751"/>
              </a:spcBef>
              <a:buNone/>
              <a:tabLst>
                <a:tab algn="l" pos="0"/>
              </a:tabLst>
            </a:pPr>
            <a:r>
              <a:rPr b="0" lang="en-US" sz="21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                                       </a:t>
            </a:r>
            <a:endParaRPr b="0" lang="en-US" sz="2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20582</TotalTime>
  <Application>LibreOffice/25.2.3.2$Linux_X86_64 LibreOffice_project/520$Build-2</Application>
  <AppVersion>15.0000</AppVersion>
  <Words>787</Words>
  <Paragraphs>127</Paragraphs>
  <Company>Honeywell Project Operations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2001-03-11T15:54:35Z</dcterms:created>
  <dc:creator>nshastry</dc:creator>
  <dc:description/>
  <dc:language>en-US</dc:language>
  <cp:lastModifiedBy/>
  <cp:lastPrinted>2018-10-29T12:35:21Z</cp:lastPrinted>
  <dcterms:modified xsi:type="dcterms:W3CDTF">2026-10-23T09:35:20Z</dcterms:modified>
  <cp:revision>172</cp:revision>
  <dc:subject/>
  <dc:title>Laser Accent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(4:3)</vt:lpwstr>
  </property>
  <property fmtid="{D5CDD505-2E9C-101B-9397-08002B2CF9AE}" pid="4" name="Slides">
    <vt:i4>12</vt:i4>
  </property>
</Properties>
</file>